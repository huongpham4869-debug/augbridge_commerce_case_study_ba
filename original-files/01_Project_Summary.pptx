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a23f6b1-42c5-1a6a-bc2d-6d12fa945224}">
          <p14:sldIdLst>
            <p14:sldId id="256"/>
          </p14:sldIdLst>
        </p14:section>
        <p14:section name="Problem" id="{6f07f642-5ccf-a2c1-b924-41e49021382f}">
          <p14:sldIdLst>
            <p14:sldId id="257"/>
            <p14:sldId id="258"/>
            <p14:sldId id="259"/>
          </p14:sldIdLst>
        </p14:section>
        <p14:section name="Requirements and solution" id="{72a05a46-ad1d-99de-ee9d-2acccfabe12f}">
          <p14:sldIdLst>
            <p14:sldId id="260"/>
            <p14:sldId id="261"/>
            <p14:sldId id="262"/>
            <p14:sldId id="263"/>
          </p14:sldIdLst>
        </p14:section>
        <p14:section name="Validation and plan" id="{e1cacfe9-7c16-24b3-0122-ddc7522a4e44}">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F3A4A"/>
                </a:solidFill>
                <a:latin typeface="+mn-lt"/>
              </a:defRPr>
            </a:pPr>
            <a:r>
              <a:rPr sz="1300" b="0" i="0" u="none" strike="noStrike">
                <a:solidFill>
                  <a:srgbClr val="2F3A4A"/>
                </a:solidFill>
                <a:latin typeface="+mn-lt"/>
              </a:rPr>
              <a:t>Orders per week (simulated, SQL on 12 weeks of data)</a:t>
            </a:r>
          </a:p>
        </c:rich>
      </c:tx>
      <c:layout/>
      <c:overlay val="0"/>
    </c:title>
    <c:autoTitleDeleted val="0"/>
    <c:plotArea>
      <c:layout/>
      <c:barChart>
        <c:barDir val="col"/>
        <c:grouping val="stacked"/>
        <c:varyColors val="0"/>
        <c:ser>
          <c:idx val="0"/>
          <c:order val="0"/>
          <c:tx>
            <c:strRef>
              <c:f>Sheet1!$B$1</c:f>
              <c:strCache>
                <c:ptCount val="1"/>
                <c:pt idx="0">
                  <c:v>Normal weeks</c:v>
                </c:pt>
              </c:strCache>
            </c:strRef>
          </c:tx>
          <c:spPr>
            <a:solidFill>
              <a:schemeClr val="accent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W1</c:v>
                  </c:pt>
                  <c:pt idx="1">
                    <c:v>W2</c:v>
                  </c:pt>
                  <c:pt idx="2">
                    <c:v>W3</c:v>
                  </c:pt>
                  <c:pt idx="3">
                    <c:v>W4</c:v>
                  </c:pt>
                  <c:pt idx="4">
                    <c:v>W5</c:v>
                  </c:pt>
                  <c:pt idx="5">
                    <c:v>W6</c:v>
                  </c:pt>
                  <c:pt idx="6">
                    <c:v>W7</c:v>
                  </c:pt>
                  <c:pt idx="7">
                    <c:v>W8</c:v>
                  </c:pt>
                  <c:pt idx="8">
                    <c:v>W9</c:v>
                  </c:pt>
                  <c:pt idx="9">
                    <c:v>W10</c:v>
                  </c:pt>
                  <c:pt idx="10">
                    <c:v>W11</c:v>
                  </c:pt>
                  <c:pt idx="11">
                    <c:v>W12</c:v>
                  </c:pt>
                </c:lvl>
              </c:multiLvlStrCache>
            </c:multiLvlStrRef>
          </c:cat>
          <c:val>
            <c:numRef>
              <c:f>Sheet1!$B$2:$B$13</c:f>
              <c:numCache>
                <c:formatCode>General</c:formatCode>
                <c:ptCount val="12"/>
                <c:pt idx="0">
                  <c:v>380</c:v>
                </c:pt>
                <c:pt idx="1">
                  <c:v>410</c:v>
                </c:pt>
                <c:pt idx="2">
                  <c:v>395</c:v>
                </c:pt>
                <c:pt idx="3">
                  <c:v>420</c:v>
                </c:pt>
                <c:pt idx="4">
                  <c:v>430</c:v>
                </c:pt>
                <c:pt idx="5">
                  <c:v>460</c:v>
                </c:pt>
                <c:pt idx="6">
                  <c:v>520</c:v>
                </c:pt>
                <c:pt idx="7">
                  <c:v>0</c:v>
                </c:pt>
                <c:pt idx="8">
                  <c:v>0</c:v>
                </c:pt>
                <c:pt idx="9">
                  <c:v>0</c:v>
                </c:pt>
                <c:pt idx="10">
                  <c:v>0</c:v>
                </c:pt>
                <c:pt idx="11">
                  <c:v>520</c:v>
                </c:pt>
              </c:numCache>
            </c:numRef>
          </c:val>
        </c:ser>
        <c:ser>
          <c:idx val="1"/>
          <c:order val="1"/>
          <c:tx>
            <c:strRef>
              <c:f>Sheet1!$C$1</c:f>
              <c:strCache>
                <c:ptCount val="1"/>
                <c:pt idx="0">
                  <c:v>Peak weeks (8–11)</c:v>
                </c:pt>
              </c:strCache>
            </c:strRef>
          </c:tx>
          <c:spPr>
            <a:solidFill>
              <a:schemeClr val="accent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W1</c:v>
                  </c:pt>
                  <c:pt idx="1">
                    <c:v>W2</c:v>
                  </c:pt>
                  <c:pt idx="2">
                    <c:v>W3</c:v>
                  </c:pt>
                  <c:pt idx="3">
                    <c:v>W4</c:v>
                  </c:pt>
                  <c:pt idx="4">
                    <c:v>W5</c:v>
                  </c:pt>
                  <c:pt idx="5">
                    <c:v>W6</c:v>
                  </c:pt>
                  <c:pt idx="6">
                    <c:v>W7</c:v>
                  </c:pt>
                  <c:pt idx="7">
                    <c:v>W8</c:v>
                  </c:pt>
                  <c:pt idx="8">
                    <c:v>W9</c:v>
                  </c:pt>
                  <c:pt idx="9">
                    <c:v>W10</c:v>
                  </c:pt>
                  <c:pt idx="10">
                    <c:v>W11</c:v>
                  </c:pt>
                  <c:pt idx="11">
                    <c:v>W12</c:v>
                  </c:pt>
                </c:lvl>
              </c:multiLvlStrCache>
            </c:multiLvlStrRef>
          </c:cat>
          <c:val>
            <c:numRef>
              <c:f>Sheet1!$C$2:$C$13</c:f>
              <c:numCache>
                <c:formatCode>General</c:formatCode>
                <c:ptCount val="12"/>
                <c:pt idx="0">
                  <c:v>0</c:v>
                </c:pt>
                <c:pt idx="1">
                  <c:v>0</c:v>
                </c:pt>
                <c:pt idx="2">
                  <c:v>0</c:v>
                </c:pt>
                <c:pt idx="3">
                  <c:v>0</c:v>
                </c:pt>
                <c:pt idx="4">
                  <c:v>0</c:v>
                </c:pt>
                <c:pt idx="5">
                  <c:v>0</c:v>
                </c:pt>
                <c:pt idx="6">
                  <c:v>0</c:v>
                </c:pt>
                <c:pt idx="7">
                  <c:v>900</c:v>
                </c:pt>
                <c:pt idx="8">
                  <c:v>1900</c:v>
                </c:pt>
                <c:pt idx="9">
                  <c:v>2750</c:v>
                </c:pt>
                <c:pt idx="10">
                  <c:v>1600</c:v>
                </c:pt>
                <c:pt idx="11">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7B8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B8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E7B8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F3A4A"/>
                </a:solidFill>
                <a:latin typeface="+mn-lt"/>
              </a:defRPr>
            </a:pPr>
            <a:r>
              <a:rPr sz="1300" b="0" i="0" u="none" strike="noStrike">
                <a:solidFill>
                  <a:srgbClr val="2F3A4A"/>
                </a:solidFill>
                <a:latin typeface="+mn-lt"/>
              </a:rPr>
              <a:t>Weighted score (max 54)</a:t>
            </a:r>
          </a:p>
        </c:rich>
      </c:tx>
      <c:layout/>
      <c:overlay val="0"/>
    </c:title>
    <c:autoTitleDeleted val="0"/>
    <c:plotArea>
      <c:layout/>
      <c:barChart>
        <c:barDir val="bar"/>
        <c:grouping val="clustered"/>
        <c:varyColors val="0"/>
        <c:ser>
          <c:idx val="0"/>
          <c:order val="0"/>
          <c:tx>
            <c:strRef>
              <c:f>Sheet1!$B$1</c:f>
              <c:strCache>
                <c:ptCount val="1"/>
                <c:pt idx="0">
                  <c:v>Weighted total</c:v>
                </c:pt>
              </c:strCache>
            </c:strRef>
          </c:tx>
          <c:spPr>
            <a:solidFill>
              <a:srgbClr val="CBD5E1"/>
            </a:solidFill>
            <a:effectLst/>
          </c:spPr>
          <c:invertIfNegative val="0"/>
          <c:dLbls>
            <c:numFmt formatCode="#,##0" sourceLinked="0"/>
            <c:txPr>
              <a:bodyPr/>
              <a:lstStyle/>
              <a:p>
                <a:pPr>
                  <a:defRPr b="1" i="0" strike="noStrike" sz="1200" u="none">
                    <a:solidFill>
                      <a:srgbClr val="2F3A4A"/>
                    </a:solidFill>
                    <a:latin typeface="+mn-lt"/>
                  </a:defRPr>
                </a:pPr>
              </a:p>
            </c:txPr>
            <c:showLegendKey val="0"/>
            <c:showVal val="1"/>
            <c:showCatName val="0"/>
            <c:showSerName val="0"/>
            <c:showPercent val="0"/>
            <c:showBubbleSize val="0"/>
            <c:showLeaderLines val="0"/>
          </c:dLbls>
          <c:dPt>
            <c:idx val="0"/>
            <c:invertIfNegative val="0"/>
            <c:bubble3D val="0"/>
            <c:spPr>
              <a:solidFill>
                <a:srgbClr val="CBD5E1"/>
              </a:solidFill>
              <a:effectLst/>
            </c:spPr>
          </c:dPt>
          <c:dPt>
            <c:idx val="1"/>
            <c:invertIfNegative val="0"/>
            <c:bubble3D val="0"/>
            <c:spPr>
              <a:solidFill>
                <a:srgbClr val="CBD5E1"/>
              </a:solidFill>
              <a:effectLst/>
            </c:spPr>
          </c:dPt>
          <c:dPt>
            <c:idx val="2"/>
            <c:invertIfNegative val="0"/>
            <c:bubble3D val="0"/>
            <c:spPr>
              <a:solidFill>
                <a:srgbClr val="CBD5E1"/>
              </a:solidFill>
              <a:effectLst/>
            </c:spPr>
          </c:dPt>
          <c:dPt>
            <c:idx val="3"/>
            <c:invertIfNegative val="0"/>
            <c:bubble3D val="0"/>
            <c:spPr>
              <a:solidFill>
                <a:srgbClr val="CBD5E1"/>
              </a:solidFill>
              <a:effectLst/>
            </c:spPr>
          </c:dPt>
          <c:dPt>
            <c:idx val="4"/>
            <c:invertIfNegative val="0"/>
            <c:bubble3D val="0"/>
            <c:spPr>
              <a:solidFill>
                <a:srgbClr val="7DB8A4"/>
              </a:solidFill>
              <a:effectLst/>
            </c:spPr>
          </c:dPt>
          <c:cat>
            <c:multiLvlStrRef>
              <c:f>Sheet1!$A$2:$A$6</c:f>
              <c:multiLvlStrCache>
                <c:ptCount val="5"/>
                <c:lvl>
                  <c:pt idx="0">
                    <c:v>E. Better spreadsheets</c:v>
                  </c:pt>
                  <c:pt idx="1">
                    <c:v>C. Notion + Slack + Make</c:v>
                  </c:pt>
                  <c:pt idx="2">
                    <c:v>D. Custom web app</c:v>
                  </c:pt>
                  <c:pt idx="3">
                    <c:v>B. Airtable + Slack + Zapier</c:v>
                  </c:pt>
                  <c:pt idx="4">
                    <c:v>A. Lark</c:v>
                  </c:pt>
                </c:lvl>
              </c:multiLvlStrCache>
            </c:multiLvlStrRef>
          </c:cat>
          <c:val>
            <c:numRef>
              <c:f>Sheet1!$B$2:$B$6</c:f>
              <c:numCache>
                <c:formatCode>General</c:formatCode>
                <c:ptCount val="5"/>
                <c:pt idx="0">
                  <c:v>28</c:v>
                </c:pt>
                <c:pt idx="1">
                  <c:v>35</c:v>
                </c:pt>
                <c:pt idx="2">
                  <c:v>40</c:v>
                </c:pt>
                <c:pt idx="3">
                  <c:v>43</c:v>
                </c:pt>
                <c:pt idx="4">
                  <c:v>50</c:v>
                </c:pt>
              </c:numCache>
            </c:numRef>
          </c:val>
        </c:ser>
        <c:dLbls>
          <c:numFmt formatCode="#,##0" sourceLinked="0"/>
          <c:txPr>
            <a:bodyPr/>
            <a:lstStyle/>
            <a:p>
              <a:pPr>
                <a:defRPr b="1" i="0" strike="noStrike" sz="1200" u="none">
                  <a:solidFill>
                    <a:srgbClr val="2F3A4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F3A4A"/>
                </a:solidFill>
                <a:latin typeface="+mn-lt"/>
              </a:defRPr>
            </a:pPr>
            <a:endParaRPr lang="en-US"/>
          </a:p>
        </c:txPr>
        <c:crossAx val="2094734552"/>
        <c:crosses val="autoZero"/>
        <c:auto val="1"/>
        <c:lblAlgn val="ctr"/>
        <c:noMultiLvlLbl val="1"/>
      </c:catAx>
      <c:valAx>
        <c:axId val="2094734552"/>
        <c:scaling>
          <c:orientation val="minMax"/>
          <c:max val="5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the short version of my BA case study. The story goes from the current process and its pain points, to requirements, a proposed To-Be design in Lark, and how the requirements trace to user stories and test cases. The company and data are simulated; nothing was built, so I do not claim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AugBridge is a small Etsy business: 6 shops, 3 suppliers, 9 people. Four PD&amp;CS staff handle product work and every order. Each order needs four manual steps, so the work grows with volume. In peak season volume is about 7 times a normal week. These figures are scenario figures I set for the case study, based on the kind of team I worked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order process. The orange labels on the diagram are the pain points. I documented 10 pain points; 8 are in scope. AP-01, the combined PD and CS role, and AP-02, manual product research, are out of scope because they would not remove the repetitive order work this project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central order database, so I built a simulated 12-week dataset and analyzed it with SQL. Peak weeks 8 to 11 have much higher volume and an overdue rate above 80 percent. But volume and cycle time were inputs of the simulation, so I use this as context only, not as proof of the cause. For the root cause of late detection, the main gap is that there is no shared order-status view and no rule to flag lines that need action. Manual work per order is a working hypothesis that the pilot would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in-scope pain point leads to a business requirement. AP-06 and AP-08 lead to one requirement, BR-04, because the same exception queue addresses both. Five are Must and form the minimum useful scope. BR-06, the dashboard, and BR-07, issue cases, are Should, because the core order flow works without them. If I could build only two things first, they would be BR-01 and BR-04.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five options against eight weighted criteria that come from the business requirements and constraints. Lark scored 50 of 54. The main reason is fit with the problem: information is already spread across many tools, and a stack of three tools could repeat that. The ratings are my own assessment. Plan limits and pricing would be checked in R0. Lark is proposed for order fulfillment only; the internal task website stays as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proposed order flow. Green boxes are done by the system. Orders come into Lark from Etsy. The system finds the Product Type of the SKU, assigns the preferred supplier from the mapping, checks the line and sends it to the supplier by API. Status and tracking come back by API, and the first tracking number of an order is synced to Etsy. If the preferred supplier cannot fulfill a line, CS assigns Supplier 3 for that line only. There is no automatic re-routing, because the business has no supplier stock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design decision. Checking every order by hand does not scale in peak season, so CS works only on the order lines that need action. There are six exception reasons. X2 and X3 come from an hourly check; the others are raised when an event happens. Each exception has a priority and an owner. The time values, like the 2 working hours for escalation, are assumed and would be confirmed in the pilot. The rules help CS find problem lines earlier; they do not make suppliers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RTM links every in-scope pain point to a business requirement, functional requirements, user stories and test cases, with the release and the reason for each link. For example, AP-04, choosing the supplier by hand, leads to BR-02, then FR-03 and FR-04, user stories US-03 and US-04, and test cases TC-03a and TC-04a to c. The UAT pack has 34 test cases. They are written with steps, test data and expected results, but they are not run because the solution is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has six releases, ordered by dependency, not by date. R0 confirms the assumptions and measures the baseline before the build is committed. R1 builds and tests the core flow. R2 runs it as a pilot on one or two shops in normal weeks, and the results are compared with the R0 baseline. R0 to R2 is the minimum useful scope. Management decides at each gate. No targets are set before the pilot because these measures have never been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adds one Developer, a paid Lark plan and a small hosting cost. The team stays at 9 people. I do not have real cost data, so I did not calculate ROI. The 6.0 minutes per order is only a planning benchmark: it is the saving per order that would match the planned Developer hours. The real saving would be measured as R0 minus R2. The main risks are supplier API access, a wrong mapping, having only one Developer, and the queue growing too large in peak season. Each has a mitigation and an owner in the BRD. The limits are clear: the solution is not built, the data is simulated, and no results are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11094415" cy="365760"/>
          </a:xfrm>
          <a:prstGeom prst="rect">
            <a:avLst/>
          </a:prstGeom>
          <a:noFill/>
          <a:ln/>
        </p:spPr>
        <p:txBody>
          <a:bodyPr wrap="square" rtlCol="0"/>
          <a:lstStyle>
            <a:lvl1pPr indent="0" marL="0">
              <a:buNone/>
              <a:defRPr lang="en-US" sz="1400" b="1" spc="3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371600"/>
            <a:ext cx="10241280" cy="155448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
        <p:nvSpPr>
          <p:cNvPr id="4" name="Text 0"/>
          <p:cNvSpPr/>
          <p:nvPr>
            <p:ph idx="102" type="body" hasCustomPrompt="1"/>
          </p:nvPr>
        </p:nvSpPr>
        <p:spPr>
          <a:xfrm>
            <a:off x="548640" y="3017520"/>
            <a:ext cx="10241280" cy="54864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chemeClr val="accent4"/>
                </a:solidFill>
              </a:rPr>
              <a:t>AugBridge Commerce  ·  Order Fulfillment Automation &amp; Exception Monitoring  ·  BA case study</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11094415" cy="365760"/>
          </a:xfrm>
          <a:prstGeom prst="rect">
            <a:avLst/>
          </a:prstGeom>
          <a:noFill/>
          <a:ln/>
        </p:spPr>
        <p:txBody>
          <a:bodyPr wrap="square" lIns="0" tIns="0" rIns="0" bIns="0" rtlCol="0" anchor="ctr"/>
          <a:lstStyle/>
          <a:p>
            <a:pPr indent="0" marL="0">
              <a:buNone/>
            </a:pPr>
            <a:r>
              <a:rPr lang="en-US" sz="1400" b="1" spc="300" kern="0" dirty="0">
                <a:solidFill>
                  <a:schemeClr val="accent2"/>
                </a:solidFill>
              </a:rPr>
              <a:t>BUSINESS ANALYSIS CASE STUDY  ·  PROJECT SUMMARY</a:t>
            </a:r>
            <a:endParaRPr lang="en-US" sz="1400" dirty="0"/>
          </a:p>
        </p:txBody>
      </p:sp>
      <p:sp>
        <p:nvSpPr>
          <p:cNvPr id="3" name="Text 0"/>
          <p:cNvSpPr/>
          <p:nvPr>
            <p:ph idx="101" type="title" hasCustomPrompt="1"/>
          </p:nvPr>
        </p:nvSpPr>
        <p:spPr>
          <a:xfrm>
            <a:off x="548640" y="1371600"/>
            <a:ext cx="10241280" cy="1554480"/>
          </a:xfrm>
          <a:prstGeom prst="rect">
            <a:avLst/>
          </a:prstGeom>
          <a:noFill/>
          <a:ln/>
        </p:spPr>
        <p:txBody>
          <a:bodyPr wrap="square" lIns="0" tIns="0" rIns="0" bIns="0" rtlCol="0" anchor="t"/>
          <a:lstStyle/>
          <a:p>
            <a:pPr algn="l" indent="0" marL="0">
              <a:buNone/>
            </a:pPr>
            <a:r>
              <a:rPr lang="en-US" sz="4400" b="1" dirty="0">
                <a:solidFill>
                  <a:schemeClr val="tx2"/>
                </a:solidFill>
              </a:rPr>
              <a:t>Order Fulfillment Automation &amp; Exception Monitoring</a:t>
            </a:r>
            <a:endParaRPr lang="en-US" sz="4400" dirty="0"/>
          </a:p>
        </p:txBody>
      </p:sp>
      <p:sp>
        <p:nvSpPr>
          <p:cNvPr id="4" name="Text 0"/>
          <p:cNvSpPr/>
          <p:nvPr>
            <p:ph idx="102" type="body" hasCustomPrompt="1"/>
          </p:nvPr>
        </p:nvSpPr>
        <p:spPr>
          <a:xfrm>
            <a:off x="548640" y="3017520"/>
            <a:ext cx="10241280" cy="548640"/>
          </a:xfrm>
          <a:prstGeom prst="rect">
            <a:avLst/>
          </a:prstGeom>
          <a:noFill/>
          <a:ln/>
        </p:spPr>
        <p:txBody>
          <a:bodyPr wrap="square" lIns="0" tIns="0" rIns="0" bIns="0" rtlCol="0" anchor="t"/>
          <a:lstStyle/>
          <a:p>
            <a:pPr indent="0" marL="0">
              <a:buNone/>
            </a:pPr>
            <a:r>
              <a:rPr lang="en-US" sz="2000" dirty="0">
                <a:solidFill>
                  <a:schemeClr val="accent4"/>
                </a:solidFill>
              </a:rPr>
              <a:t>AugBridge Commerce: a small cross-border e-commerce business selling on Etsy</a:t>
            </a:r>
            <a:endParaRPr lang="en-US" sz="2000" dirty="0"/>
          </a:p>
        </p:txBody>
      </p:sp>
      <p:sp>
        <p:nvSpPr>
          <p:cNvPr id="5" name="Card 1"/>
          <p:cNvSpPr/>
          <p:nvPr/>
        </p:nvSpPr>
        <p:spPr>
          <a:xfrm>
            <a:off x="548640" y="3977640"/>
            <a:ext cx="1696669" cy="1600200"/>
          </a:xfrm>
          <a:prstGeom prst="roundRect">
            <a:avLst>
              <a:gd name="adj" fmla="val 4571"/>
            </a:avLst>
          </a:prstGeom>
          <a:solidFill>
            <a:schemeClr val="bg2"/>
          </a:solidFill>
          <a:ln w="12700">
            <a:solidFill>
              <a:schemeClr val="bg2"/>
            </a:solidFill>
            <a:prstDash val="solid"/>
          </a:ln>
        </p:spPr>
      </p:sp>
      <p:sp>
        <p:nvSpPr>
          <p:cNvPr id="6" name="Text 2"/>
          <p:cNvSpPr txBox="1"/>
          <p:nvPr/>
        </p:nvSpPr>
        <p:spPr>
          <a:xfrm>
            <a:off x="731520" y="4142232"/>
            <a:ext cx="1330909" cy="594360"/>
          </a:xfrm>
          <a:prstGeom prst="rect">
            <a:avLst/>
          </a:prstGeom>
          <a:noFill/>
          <a:ln/>
        </p:spPr>
        <p:txBody>
          <a:bodyPr wrap="square" lIns="0" tIns="0" rIns="0" bIns="0" rtlCol="0" anchor="ctr"/>
          <a:lstStyle/>
          <a:p>
            <a:pPr indent="0" marL="0">
              <a:buNone/>
            </a:pPr>
            <a:r>
              <a:rPr lang="en-US" sz="3600" b="1" dirty="0">
                <a:solidFill>
                  <a:schemeClr val="tx2"/>
                </a:solidFill>
              </a:rPr>
              <a:t>10</a:t>
            </a:r>
            <a:endParaRPr lang="en-US" sz="3600" dirty="0"/>
          </a:p>
        </p:txBody>
      </p:sp>
      <p:sp>
        <p:nvSpPr>
          <p:cNvPr id="7" name="Text 3"/>
          <p:cNvSpPr txBox="1"/>
          <p:nvPr/>
        </p:nvSpPr>
        <p:spPr>
          <a:xfrm>
            <a:off x="731520" y="4782312"/>
            <a:ext cx="1330909" cy="274320"/>
          </a:xfrm>
          <a:prstGeom prst="rect">
            <a:avLst/>
          </a:prstGeom>
          <a:noFill/>
          <a:ln/>
        </p:spPr>
        <p:txBody>
          <a:bodyPr wrap="square" lIns="0" tIns="0" rIns="0" bIns="0" rtlCol="0" anchor="ctr"/>
          <a:lstStyle/>
          <a:p>
            <a:pPr indent="0" marL="0">
              <a:buNone/>
            </a:pPr>
            <a:r>
              <a:rPr lang="en-US" sz="1300" dirty="0">
                <a:solidFill>
                  <a:schemeClr val="tx1"/>
                </a:solidFill>
              </a:rPr>
              <a:t>pain points</a:t>
            </a:r>
            <a:endParaRPr lang="en-US" sz="1300" dirty="0"/>
          </a:p>
        </p:txBody>
      </p:sp>
      <p:sp>
        <p:nvSpPr>
          <p:cNvPr id="8" name="Text 4"/>
          <p:cNvSpPr txBox="1"/>
          <p:nvPr/>
        </p:nvSpPr>
        <p:spPr>
          <a:xfrm>
            <a:off x="731520" y="5074920"/>
            <a:ext cx="1330909" cy="274320"/>
          </a:xfrm>
          <a:prstGeom prst="rect">
            <a:avLst/>
          </a:prstGeom>
          <a:noFill/>
          <a:ln/>
        </p:spPr>
        <p:txBody>
          <a:bodyPr wrap="square" lIns="0" tIns="0" rIns="0" bIns="0" rtlCol="0" anchor="ctr"/>
          <a:lstStyle/>
          <a:p>
            <a:pPr indent="0" marL="0">
              <a:buNone/>
            </a:pPr>
            <a:r>
              <a:rPr lang="en-US" sz="1200" dirty="0">
                <a:solidFill>
                  <a:schemeClr val="accent2"/>
                </a:solidFill>
              </a:rPr>
              <a:t>2 out of scope</a:t>
            </a:r>
            <a:endParaRPr lang="en-US" sz="1200" dirty="0"/>
          </a:p>
        </p:txBody>
      </p:sp>
      <p:sp>
        <p:nvSpPr>
          <p:cNvPr id="9" name="Card 5"/>
          <p:cNvSpPr/>
          <p:nvPr/>
        </p:nvSpPr>
        <p:spPr>
          <a:xfrm>
            <a:off x="2428189" y="3977640"/>
            <a:ext cx="1696669" cy="1600200"/>
          </a:xfrm>
          <a:prstGeom prst="roundRect">
            <a:avLst>
              <a:gd name="adj" fmla="val 4571"/>
            </a:avLst>
          </a:prstGeom>
          <a:solidFill>
            <a:schemeClr val="bg2"/>
          </a:solidFill>
          <a:ln w="12700">
            <a:solidFill>
              <a:schemeClr val="bg2"/>
            </a:solidFill>
            <a:prstDash val="solid"/>
          </a:ln>
        </p:spPr>
      </p:sp>
      <p:sp>
        <p:nvSpPr>
          <p:cNvPr id="10" name="Text 6"/>
          <p:cNvSpPr txBox="1"/>
          <p:nvPr/>
        </p:nvSpPr>
        <p:spPr>
          <a:xfrm>
            <a:off x="2611069" y="4142232"/>
            <a:ext cx="1330909" cy="594360"/>
          </a:xfrm>
          <a:prstGeom prst="rect">
            <a:avLst/>
          </a:prstGeom>
          <a:noFill/>
          <a:ln/>
        </p:spPr>
        <p:txBody>
          <a:bodyPr wrap="square" lIns="0" tIns="0" rIns="0" bIns="0" rtlCol="0" anchor="ctr"/>
          <a:lstStyle/>
          <a:p>
            <a:pPr indent="0" marL="0">
              <a:buNone/>
            </a:pPr>
            <a:r>
              <a:rPr lang="en-US" sz="3600" b="1" dirty="0">
                <a:solidFill>
                  <a:schemeClr val="tx2"/>
                </a:solidFill>
              </a:rPr>
              <a:t>7</a:t>
            </a:r>
            <a:endParaRPr lang="en-US" sz="3600" dirty="0"/>
          </a:p>
        </p:txBody>
      </p:sp>
      <p:sp>
        <p:nvSpPr>
          <p:cNvPr id="11" name="Text 7"/>
          <p:cNvSpPr txBox="1"/>
          <p:nvPr/>
        </p:nvSpPr>
        <p:spPr>
          <a:xfrm>
            <a:off x="2611069" y="4782312"/>
            <a:ext cx="1330909" cy="274320"/>
          </a:xfrm>
          <a:prstGeom prst="rect">
            <a:avLst/>
          </a:prstGeom>
          <a:noFill/>
          <a:ln/>
        </p:spPr>
        <p:txBody>
          <a:bodyPr wrap="square" lIns="0" tIns="0" rIns="0" bIns="0" rtlCol="0" anchor="ctr"/>
          <a:lstStyle/>
          <a:p>
            <a:pPr indent="0" marL="0">
              <a:buNone/>
            </a:pPr>
            <a:r>
              <a:rPr lang="en-US" sz="1300" dirty="0">
                <a:solidFill>
                  <a:schemeClr val="tx1"/>
                </a:solidFill>
              </a:rPr>
              <a:t>business requirements</a:t>
            </a:r>
            <a:endParaRPr lang="en-US" sz="1300" dirty="0"/>
          </a:p>
        </p:txBody>
      </p:sp>
      <p:sp>
        <p:nvSpPr>
          <p:cNvPr id="12" name="Card 8"/>
          <p:cNvSpPr/>
          <p:nvPr/>
        </p:nvSpPr>
        <p:spPr>
          <a:xfrm>
            <a:off x="4307738" y="3977640"/>
            <a:ext cx="1696669" cy="1600200"/>
          </a:xfrm>
          <a:prstGeom prst="roundRect">
            <a:avLst>
              <a:gd name="adj" fmla="val 4571"/>
            </a:avLst>
          </a:prstGeom>
          <a:solidFill>
            <a:schemeClr val="bg2"/>
          </a:solidFill>
          <a:ln w="12700">
            <a:solidFill>
              <a:schemeClr val="bg2"/>
            </a:solidFill>
            <a:prstDash val="solid"/>
          </a:ln>
        </p:spPr>
      </p:sp>
      <p:sp>
        <p:nvSpPr>
          <p:cNvPr id="13" name="Text 9"/>
          <p:cNvSpPr txBox="1"/>
          <p:nvPr/>
        </p:nvSpPr>
        <p:spPr>
          <a:xfrm>
            <a:off x="4490618" y="4142232"/>
            <a:ext cx="1330909" cy="594360"/>
          </a:xfrm>
          <a:prstGeom prst="rect">
            <a:avLst/>
          </a:prstGeom>
          <a:noFill/>
          <a:ln/>
        </p:spPr>
        <p:txBody>
          <a:bodyPr wrap="square" lIns="0" tIns="0" rIns="0" bIns="0" rtlCol="0" anchor="ctr"/>
          <a:lstStyle/>
          <a:p>
            <a:pPr indent="0" marL="0">
              <a:buNone/>
            </a:pPr>
            <a:r>
              <a:rPr lang="en-US" sz="3600" b="1" dirty="0">
                <a:solidFill>
                  <a:schemeClr val="tx2"/>
                </a:solidFill>
              </a:rPr>
              <a:t>16</a:t>
            </a:r>
            <a:endParaRPr lang="en-US" sz="3600" dirty="0"/>
          </a:p>
        </p:txBody>
      </p:sp>
      <p:sp>
        <p:nvSpPr>
          <p:cNvPr id="14" name="Text 10"/>
          <p:cNvSpPr txBox="1"/>
          <p:nvPr/>
        </p:nvSpPr>
        <p:spPr>
          <a:xfrm>
            <a:off x="4490618" y="4782312"/>
            <a:ext cx="1330909" cy="274320"/>
          </a:xfrm>
          <a:prstGeom prst="rect">
            <a:avLst/>
          </a:prstGeom>
          <a:noFill/>
          <a:ln/>
        </p:spPr>
        <p:txBody>
          <a:bodyPr wrap="square" lIns="0" tIns="0" rIns="0" bIns="0" rtlCol="0" anchor="ctr"/>
          <a:lstStyle/>
          <a:p>
            <a:pPr indent="0" marL="0">
              <a:buNone/>
            </a:pPr>
            <a:r>
              <a:rPr lang="en-US" sz="1300" dirty="0">
                <a:solidFill>
                  <a:schemeClr val="tx1"/>
                </a:solidFill>
              </a:rPr>
              <a:t>functional requirements</a:t>
            </a:r>
            <a:endParaRPr lang="en-US" sz="1300" dirty="0"/>
          </a:p>
        </p:txBody>
      </p:sp>
      <p:sp>
        <p:nvSpPr>
          <p:cNvPr id="15" name="Card 11"/>
          <p:cNvSpPr/>
          <p:nvPr/>
        </p:nvSpPr>
        <p:spPr>
          <a:xfrm>
            <a:off x="6187288" y="3977640"/>
            <a:ext cx="1696669" cy="1600200"/>
          </a:xfrm>
          <a:prstGeom prst="roundRect">
            <a:avLst>
              <a:gd name="adj" fmla="val 4571"/>
            </a:avLst>
          </a:prstGeom>
          <a:solidFill>
            <a:schemeClr val="bg2"/>
          </a:solidFill>
          <a:ln w="12700">
            <a:solidFill>
              <a:schemeClr val="bg2"/>
            </a:solidFill>
            <a:prstDash val="solid"/>
          </a:ln>
        </p:spPr>
      </p:sp>
      <p:sp>
        <p:nvSpPr>
          <p:cNvPr id="16" name="Text 12"/>
          <p:cNvSpPr txBox="1"/>
          <p:nvPr/>
        </p:nvSpPr>
        <p:spPr>
          <a:xfrm>
            <a:off x="6370168" y="4142232"/>
            <a:ext cx="1330909" cy="594360"/>
          </a:xfrm>
          <a:prstGeom prst="rect">
            <a:avLst/>
          </a:prstGeom>
          <a:noFill/>
          <a:ln/>
        </p:spPr>
        <p:txBody>
          <a:bodyPr wrap="square" lIns="0" tIns="0" rIns="0" bIns="0" rtlCol="0" anchor="ctr"/>
          <a:lstStyle/>
          <a:p>
            <a:pPr indent="0" marL="0">
              <a:buNone/>
            </a:pPr>
            <a:r>
              <a:rPr lang="en-US" sz="3600" b="1" dirty="0">
                <a:solidFill>
                  <a:schemeClr val="tx2"/>
                </a:solidFill>
              </a:rPr>
              <a:t>16</a:t>
            </a:r>
            <a:endParaRPr lang="en-US" sz="3600" dirty="0"/>
          </a:p>
        </p:txBody>
      </p:sp>
      <p:sp>
        <p:nvSpPr>
          <p:cNvPr id="17" name="Text 13"/>
          <p:cNvSpPr txBox="1"/>
          <p:nvPr/>
        </p:nvSpPr>
        <p:spPr>
          <a:xfrm>
            <a:off x="6370168" y="4782312"/>
            <a:ext cx="1330909" cy="274320"/>
          </a:xfrm>
          <a:prstGeom prst="rect">
            <a:avLst/>
          </a:prstGeom>
          <a:noFill/>
          <a:ln/>
        </p:spPr>
        <p:txBody>
          <a:bodyPr wrap="square" lIns="0" tIns="0" rIns="0" bIns="0" rtlCol="0" anchor="ctr"/>
          <a:lstStyle/>
          <a:p>
            <a:pPr indent="0" marL="0">
              <a:buNone/>
            </a:pPr>
            <a:r>
              <a:rPr lang="en-US" sz="1300" dirty="0">
                <a:solidFill>
                  <a:schemeClr val="tx1"/>
                </a:solidFill>
              </a:rPr>
              <a:t>user stories</a:t>
            </a:r>
            <a:endParaRPr lang="en-US" sz="1300" dirty="0"/>
          </a:p>
        </p:txBody>
      </p:sp>
      <p:sp>
        <p:nvSpPr>
          <p:cNvPr id="18" name="Card 14"/>
          <p:cNvSpPr/>
          <p:nvPr/>
        </p:nvSpPr>
        <p:spPr>
          <a:xfrm>
            <a:off x="8066837" y="3977640"/>
            <a:ext cx="1696669" cy="1600200"/>
          </a:xfrm>
          <a:prstGeom prst="roundRect">
            <a:avLst>
              <a:gd name="adj" fmla="val 4571"/>
            </a:avLst>
          </a:prstGeom>
          <a:solidFill>
            <a:schemeClr val="bg2"/>
          </a:solidFill>
          <a:ln w="12700">
            <a:solidFill>
              <a:schemeClr val="bg2"/>
            </a:solidFill>
            <a:prstDash val="solid"/>
          </a:ln>
        </p:spPr>
      </p:sp>
      <p:sp>
        <p:nvSpPr>
          <p:cNvPr id="19" name="Text 15"/>
          <p:cNvSpPr txBox="1"/>
          <p:nvPr/>
        </p:nvSpPr>
        <p:spPr>
          <a:xfrm>
            <a:off x="8249717" y="4142232"/>
            <a:ext cx="1330909" cy="594360"/>
          </a:xfrm>
          <a:prstGeom prst="rect">
            <a:avLst/>
          </a:prstGeom>
          <a:noFill/>
          <a:ln/>
        </p:spPr>
        <p:txBody>
          <a:bodyPr wrap="square" lIns="0" tIns="0" rIns="0" bIns="0" rtlCol="0" anchor="ctr"/>
          <a:lstStyle/>
          <a:p>
            <a:pPr indent="0" marL="0">
              <a:buNone/>
            </a:pPr>
            <a:r>
              <a:rPr lang="en-US" sz="3600" b="1" dirty="0">
                <a:solidFill>
                  <a:schemeClr val="tx2"/>
                </a:solidFill>
              </a:rPr>
              <a:t>34</a:t>
            </a:r>
            <a:endParaRPr lang="en-US" sz="3600" dirty="0"/>
          </a:p>
        </p:txBody>
      </p:sp>
      <p:sp>
        <p:nvSpPr>
          <p:cNvPr id="20" name="Text 16"/>
          <p:cNvSpPr txBox="1"/>
          <p:nvPr/>
        </p:nvSpPr>
        <p:spPr>
          <a:xfrm>
            <a:off x="8249717" y="4782312"/>
            <a:ext cx="1330909" cy="274320"/>
          </a:xfrm>
          <a:prstGeom prst="rect">
            <a:avLst/>
          </a:prstGeom>
          <a:noFill/>
          <a:ln/>
        </p:spPr>
        <p:txBody>
          <a:bodyPr wrap="square" lIns="0" tIns="0" rIns="0" bIns="0" rtlCol="0" anchor="ctr"/>
          <a:lstStyle/>
          <a:p>
            <a:pPr indent="0" marL="0">
              <a:buNone/>
            </a:pPr>
            <a:r>
              <a:rPr lang="en-US" sz="1300" dirty="0">
                <a:solidFill>
                  <a:schemeClr val="tx1"/>
                </a:solidFill>
              </a:rPr>
              <a:t>UAT test cases</a:t>
            </a:r>
            <a:endParaRPr lang="en-US" sz="1300" dirty="0"/>
          </a:p>
        </p:txBody>
      </p:sp>
      <p:sp>
        <p:nvSpPr>
          <p:cNvPr id="21" name="Text 17"/>
          <p:cNvSpPr txBox="1"/>
          <p:nvPr/>
        </p:nvSpPr>
        <p:spPr>
          <a:xfrm>
            <a:off x="8249717" y="5074920"/>
            <a:ext cx="1330909" cy="274320"/>
          </a:xfrm>
          <a:prstGeom prst="rect">
            <a:avLst/>
          </a:prstGeom>
          <a:noFill/>
          <a:ln/>
        </p:spPr>
        <p:txBody>
          <a:bodyPr wrap="square" lIns="0" tIns="0" rIns="0" bIns="0" rtlCol="0" anchor="ctr"/>
          <a:lstStyle/>
          <a:p>
            <a:pPr indent="0" marL="0">
              <a:buNone/>
            </a:pPr>
            <a:r>
              <a:rPr lang="en-US" sz="1200" dirty="0">
                <a:solidFill>
                  <a:schemeClr val="accent2"/>
                </a:solidFill>
              </a:rPr>
              <a:t>not run</a:t>
            </a:r>
            <a:endParaRPr lang="en-US" sz="1200" dirty="0"/>
          </a:p>
        </p:txBody>
      </p:sp>
      <p:sp>
        <p:nvSpPr>
          <p:cNvPr id="22" name="Card 18"/>
          <p:cNvSpPr/>
          <p:nvPr/>
        </p:nvSpPr>
        <p:spPr>
          <a:xfrm>
            <a:off x="9946386" y="3977640"/>
            <a:ext cx="1696669" cy="1600200"/>
          </a:xfrm>
          <a:prstGeom prst="roundRect">
            <a:avLst>
              <a:gd name="adj" fmla="val 4571"/>
            </a:avLst>
          </a:prstGeom>
          <a:solidFill>
            <a:schemeClr val="bg2"/>
          </a:solidFill>
          <a:ln w="12700">
            <a:solidFill>
              <a:schemeClr val="bg2"/>
            </a:solidFill>
            <a:prstDash val="solid"/>
          </a:ln>
        </p:spPr>
      </p:sp>
      <p:sp>
        <p:nvSpPr>
          <p:cNvPr id="23" name="Text 19"/>
          <p:cNvSpPr txBox="1"/>
          <p:nvPr/>
        </p:nvSpPr>
        <p:spPr>
          <a:xfrm>
            <a:off x="10129266" y="4142232"/>
            <a:ext cx="1330909" cy="594360"/>
          </a:xfrm>
          <a:prstGeom prst="rect">
            <a:avLst/>
          </a:prstGeom>
          <a:noFill/>
          <a:ln/>
        </p:spPr>
        <p:txBody>
          <a:bodyPr wrap="square" lIns="0" tIns="0" rIns="0" bIns="0" rtlCol="0" anchor="ctr"/>
          <a:lstStyle/>
          <a:p>
            <a:pPr indent="0" marL="0">
              <a:buNone/>
            </a:pPr>
            <a:r>
              <a:rPr lang="en-US" sz="3600" b="1" dirty="0">
                <a:solidFill>
                  <a:schemeClr val="tx2"/>
                </a:solidFill>
              </a:rPr>
              <a:t>10,685</a:t>
            </a:r>
            <a:endParaRPr lang="en-US" sz="3600" dirty="0"/>
          </a:p>
        </p:txBody>
      </p:sp>
      <p:sp>
        <p:nvSpPr>
          <p:cNvPr id="24" name="Text 20"/>
          <p:cNvSpPr txBox="1"/>
          <p:nvPr/>
        </p:nvSpPr>
        <p:spPr>
          <a:xfrm>
            <a:off x="10129266" y="4782312"/>
            <a:ext cx="1330909" cy="274320"/>
          </a:xfrm>
          <a:prstGeom prst="rect">
            <a:avLst/>
          </a:prstGeom>
          <a:noFill/>
          <a:ln/>
        </p:spPr>
        <p:txBody>
          <a:bodyPr wrap="square" lIns="0" tIns="0" rIns="0" bIns="0" rtlCol="0" anchor="ctr"/>
          <a:lstStyle/>
          <a:p>
            <a:pPr indent="0" marL="0">
              <a:buNone/>
            </a:pPr>
            <a:r>
              <a:rPr lang="en-US" sz="1300" dirty="0">
                <a:solidFill>
                  <a:schemeClr val="tx1"/>
                </a:solidFill>
              </a:rPr>
              <a:t>simulated orders</a:t>
            </a:r>
            <a:endParaRPr lang="en-US" sz="1300" dirty="0"/>
          </a:p>
        </p:txBody>
      </p:sp>
      <p:sp>
        <p:nvSpPr>
          <p:cNvPr id="25" name="Text 21"/>
          <p:cNvSpPr txBox="1"/>
          <p:nvPr/>
        </p:nvSpPr>
        <p:spPr>
          <a:xfrm>
            <a:off x="10129266" y="5074920"/>
            <a:ext cx="1330909" cy="274320"/>
          </a:xfrm>
          <a:prstGeom prst="rect">
            <a:avLst/>
          </a:prstGeom>
          <a:noFill/>
          <a:ln/>
        </p:spPr>
        <p:txBody>
          <a:bodyPr wrap="square" lIns="0" tIns="0" rIns="0" bIns="0" rtlCol="0" anchor="ctr"/>
          <a:lstStyle/>
          <a:p>
            <a:pPr indent="0" marL="0">
              <a:buNone/>
            </a:pPr>
            <a:r>
              <a:rPr lang="en-US" sz="1200" dirty="0">
                <a:solidFill>
                  <a:schemeClr val="accent2"/>
                </a:solidFill>
              </a:rPr>
              <a:t>12 weeks</a:t>
            </a:r>
            <a:endParaRPr lang="en-US" sz="1200" dirty="0"/>
          </a:p>
        </p:txBody>
      </p:sp>
      <p:sp>
        <p:nvSpPr>
          <p:cNvPr id="26" name="Text 22"/>
          <p:cNvSpPr txBox="1"/>
          <p:nvPr/>
        </p:nvSpPr>
        <p:spPr>
          <a:xfrm>
            <a:off x="548640" y="5897880"/>
            <a:ext cx="11094415" cy="457200"/>
          </a:xfrm>
          <a:prstGeom prst="rect">
            <a:avLst/>
          </a:prstGeom>
          <a:noFill/>
          <a:ln/>
        </p:spPr>
        <p:txBody>
          <a:bodyPr wrap="square" lIns="0" tIns="0" rIns="0" bIns="0" rtlCol="0" anchor="ctr"/>
          <a:lstStyle/>
          <a:p>
            <a:pPr indent="0" marL="0">
              <a:buNone/>
            </a:pPr>
            <a:r>
              <a:rPr lang="en-US" sz="1300" i="1" dirty="0">
                <a:solidFill>
                  <a:schemeClr val="accent4"/>
                </a:solidFill>
              </a:rPr>
              <a:t>A portfolio case study based on hands-on experience in cross-border e-commerce. The company and the dataset are simulated, and the solution has not been built.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Every order is handled by hand, so the workload grows with order volume.</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Business Context and Problem</a:t>
            </a:r>
            <a:endParaRPr lang="en-US" sz="3200" dirty="0"/>
          </a:p>
        </p:txBody>
      </p:sp>
      <p:sp>
        <p:nvSpPr>
          <p:cNvPr id="4" name="Card 23"/>
          <p:cNvSpPr/>
          <p:nvPr/>
        </p:nvSpPr>
        <p:spPr>
          <a:xfrm>
            <a:off x="548640" y="1600200"/>
            <a:ext cx="2240280" cy="2194560"/>
          </a:xfrm>
          <a:prstGeom prst="roundRect">
            <a:avLst>
              <a:gd name="adj" fmla="val 3333"/>
            </a:avLst>
          </a:prstGeom>
          <a:solidFill>
            <a:schemeClr val="bg2"/>
          </a:solidFill>
          <a:ln w="12700">
            <a:solidFill>
              <a:schemeClr val="bg2"/>
            </a:solidFill>
            <a:prstDash val="solid"/>
          </a:ln>
        </p:spPr>
      </p:sp>
      <p:sp>
        <p:nvSpPr>
          <p:cNvPr id="5" name="Text 24"/>
          <p:cNvSpPr txBox="1"/>
          <p:nvPr/>
        </p:nvSpPr>
        <p:spPr>
          <a:xfrm>
            <a:off x="749808" y="1892808"/>
            <a:ext cx="1837944" cy="731520"/>
          </a:xfrm>
          <a:prstGeom prst="rect">
            <a:avLst/>
          </a:prstGeom>
          <a:noFill/>
          <a:ln/>
        </p:spPr>
        <p:txBody>
          <a:bodyPr wrap="square" lIns="0" tIns="0" rIns="0" bIns="0" rtlCol="0" anchor="ctr"/>
          <a:lstStyle/>
          <a:p>
            <a:pPr indent="0" marL="0">
              <a:buNone/>
            </a:pPr>
            <a:r>
              <a:rPr lang="en-US" sz="4400" b="1" dirty="0">
                <a:solidFill>
                  <a:schemeClr val="tx2"/>
                </a:solidFill>
              </a:rPr>
              <a:t>6</a:t>
            </a:r>
            <a:endParaRPr lang="en-US" sz="4400" dirty="0"/>
          </a:p>
        </p:txBody>
      </p:sp>
      <p:sp>
        <p:nvSpPr>
          <p:cNvPr id="6" name="Text 25"/>
          <p:cNvSpPr txBox="1"/>
          <p:nvPr/>
        </p:nvSpPr>
        <p:spPr>
          <a:xfrm>
            <a:off x="749808" y="2715768"/>
            <a:ext cx="1837944" cy="320040"/>
          </a:xfrm>
          <a:prstGeom prst="rect">
            <a:avLst/>
          </a:prstGeom>
          <a:noFill/>
          <a:ln/>
        </p:spPr>
        <p:txBody>
          <a:bodyPr wrap="square" lIns="0" tIns="0" rIns="0" bIns="0" rtlCol="0" anchor="ctr"/>
          <a:lstStyle/>
          <a:p>
            <a:pPr indent="0" marL="0">
              <a:buNone/>
            </a:pPr>
            <a:r>
              <a:rPr lang="en-US" sz="1500" b="1" dirty="0">
                <a:solidFill>
                  <a:schemeClr val="tx1"/>
                </a:solidFill>
              </a:rPr>
              <a:t>Etsy shops</a:t>
            </a:r>
            <a:endParaRPr lang="en-US" sz="1500" dirty="0"/>
          </a:p>
        </p:txBody>
      </p:sp>
      <p:sp>
        <p:nvSpPr>
          <p:cNvPr id="7" name="Text 26"/>
          <p:cNvSpPr txBox="1"/>
          <p:nvPr/>
        </p:nvSpPr>
        <p:spPr>
          <a:xfrm>
            <a:off x="749808" y="3063240"/>
            <a:ext cx="1837944" cy="640080"/>
          </a:xfrm>
          <a:prstGeom prst="rect">
            <a:avLst/>
          </a:prstGeom>
          <a:noFill/>
          <a:ln/>
        </p:spPr>
        <p:txBody>
          <a:bodyPr wrap="square" lIns="0" tIns="0" rIns="0" bIns="0" rtlCol="0" anchor="t"/>
          <a:lstStyle/>
          <a:p>
            <a:pPr indent="0" marL="0">
              <a:buNone/>
            </a:pPr>
            <a:r>
              <a:rPr lang="en-US" sz="1200" dirty="0">
                <a:solidFill>
                  <a:schemeClr val="accent4"/>
                </a:solidFill>
              </a:rPr>
              <a:t>selling mainly to North America and Europe</a:t>
            </a:r>
            <a:endParaRPr lang="en-US" sz="1200" dirty="0"/>
          </a:p>
        </p:txBody>
      </p:sp>
      <p:sp>
        <p:nvSpPr>
          <p:cNvPr id="8" name="Card 27"/>
          <p:cNvSpPr/>
          <p:nvPr/>
        </p:nvSpPr>
        <p:spPr>
          <a:xfrm>
            <a:off x="2971800" y="1600200"/>
            <a:ext cx="2240280" cy="2194560"/>
          </a:xfrm>
          <a:prstGeom prst="roundRect">
            <a:avLst>
              <a:gd name="adj" fmla="val 3333"/>
            </a:avLst>
          </a:prstGeom>
          <a:solidFill>
            <a:schemeClr val="bg2"/>
          </a:solidFill>
          <a:ln w="12700">
            <a:solidFill>
              <a:schemeClr val="bg2"/>
            </a:solidFill>
            <a:prstDash val="solid"/>
          </a:ln>
        </p:spPr>
      </p:sp>
      <p:sp>
        <p:nvSpPr>
          <p:cNvPr id="9" name="Text 28"/>
          <p:cNvSpPr txBox="1"/>
          <p:nvPr/>
        </p:nvSpPr>
        <p:spPr>
          <a:xfrm>
            <a:off x="3172968" y="1892808"/>
            <a:ext cx="1837944" cy="731520"/>
          </a:xfrm>
          <a:prstGeom prst="rect">
            <a:avLst/>
          </a:prstGeom>
          <a:noFill/>
          <a:ln/>
        </p:spPr>
        <p:txBody>
          <a:bodyPr wrap="square" lIns="0" tIns="0" rIns="0" bIns="0" rtlCol="0" anchor="ctr"/>
          <a:lstStyle/>
          <a:p>
            <a:pPr indent="0" marL="0">
              <a:buNone/>
            </a:pPr>
            <a:r>
              <a:rPr lang="en-US" sz="4400" b="1" dirty="0">
                <a:solidFill>
                  <a:schemeClr val="tx2"/>
                </a:solidFill>
              </a:rPr>
              <a:t>3</a:t>
            </a:r>
            <a:endParaRPr lang="en-US" sz="4400" dirty="0"/>
          </a:p>
        </p:txBody>
      </p:sp>
      <p:sp>
        <p:nvSpPr>
          <p:cNvPr id="10" name="Text 29"/>
          <p:cNvSpPr txBox="1"/>
          <p:nvPr/>
        </p:nvSpPr>
        <p:spPr>
          <a:xfrm>
            <a:off x="3172968" y="2715768"/>
            <a:ext cx="1837944" cy="320040"/>
          </a:xfrm>
          <a:prstGeom prst="rect">
            <a:avLst/>
          </a:prstGeom>
          <a:noFill/>
          <a:ln/>
        </p:spPr>
        <p:txBody>
          <a:bodyPr wrap="square" lIns="0" tIns="0" rIns="0" bIns="0" rtlCol="0" anchor="ctr"/>
          <a:lstStyle/>
          <a:p>
            <a:pPr indent="0" marL="0">
              <a:buNone/>
            </a:pPr>
            <a:r>
              <a:rPr lang="en-US" sz="1500" b="1" dirty="0">
                <a:solidFill>
                  <a:schemeClr val="tx1"/>
                </a:solidFill>
              </a:rPr>
              <a:t>external suppliers</a:t>
            </a:r>
            <a:endParaRPr lang="en-US" sz="1500" dirty="0"/>
          </a:p>
        </p:txBody>
      </p:sp>
      <p:sp>
        <p:nvSpPr>
          <p:cNvPr id="11" name="Text 30"/>
          <p:cNvSpPr txBox="1"/>
          <p:nvPr/>
        </p:nvSpPr>
        <p:spPr>
          <a:xfrm>
            <a:off x="3172968" y="3063240"/>
            <a:ext cx="1837944" cy="640080"/>
          </a:xfrm>
          <a:prstGeom prst="rect">
            <a:avLst/>
          </a:prstGeom>
          <a:noFill/>
          <a:ln/>
        </p:spPr>
        <p:txBody>
          <a:bodyPr wrap="square" lIns="0" tIns="0" rIns="0" bIns="0" rtlCol="0" anchor="t"/>
          <a:lstStyle/>
          <a:p>
            <a:pPr indent="0" marL="0">
              <a:buNone/>
            </a:pPr>
            <a:r>
              <a:rPr lang="en-US" sz="1200" dirty="0">
                <a:solidFill>
                  <a:schemeClr val="accent4"/>
                </a:solidFill>
              </a:rPr>
              <a:t>2 primary, 1 backup; all have an API that is not used today</a:t>
            </a:r>
            <a:endParaRPr lang="en-US" sz="1200" dirty="0"/>
          </a:p>
        </p:txBody>
      </p:sp>
      <p:sp>
        <p:nvSpPr>
          <p:cNvPr id="12" name="Card 31"/>
          <p:cNvSpPr/>
          <p:nvPr/>
        </p:nvSpPr>
        <p:spPr>
          <a:xfrm>
            <a:off x="548640" y="3977640"/>
            <a:ext cx="2240280" cy="2194560"/>
          </a:xfrm>
          <a:prstGeom prst="roundRect">
            <a:avLst>
              <a:gd name="adj" fmla="val 3333"/>
            </a:avLst>
          </a:prstGeom>
          <a:solidFill>
            <a:schemeClr val="bg2"/>
          </a:solidFill>
          <a:ln w="12700">
            <a:solidFill>
              <a:schemeClr val="bg2"/>
            </a:solidFill>
            <a:prstDash val="solid"/>
          </a:ln>
        </p:spPr>
      </p:sp>
      <p:sp>
        <p:nvSpPr>
          <p:cNvPr id="13" name="Text 32"/>
          <p:cNvSpPr txBox="1"/>
          <p:nvPr/>
        </p:nvSpPr>
        <p:spPr>
          <a:xfrm>
            <a:off x="749808" y="4270248"/>
            <a:ext cx="1837944" cy="731520"/>
          </a:xfrm>
          <a:prstGeom prst="rect">
            <a:avLst/>
          </a:prstGeom>
          <a:noFill/>
          <a:ln/>
        </p:spPr>
        <p:txBody>
          <a:bodyPr wrap="square" lIns="0" tIns="0" rIns="0" bIns="0" rtlCol="0" anchor="ctr"/>
          <a:lstStyle/>
          <a:p>
            <a:pPr indent="0" marL="0">
              <a:buNone/>
            </a:pPr>
            <a:r>
              <a:rPr lang="en-US" sz="4400" b="1" dirty="0">
                <a:solidFill>
                  <a:schemeClr val="tx2"/>
                </a:solidFill>
              </a:rPr>
              <a:t>9</a:t>
            </a:r>
            <a:endParaRPr lang="en-US" sz="4400" dirty="0"/>
          </a:p>
        </p:txBody>
      </p:sp>
      <p:sp>
        <p:nvSpPr>
          <p:cNvPr id="14" name="Text 33"/>
          <p:cNvSpPr txBox="1"/>
          <p:nvPr/>
        </p:nvSpPr>
        <p:spPr>
          <a:xfrm>
            <a:off x="749808" y="5093208"/>
            <a:ext cx="1837944" cy="320040"/>
          </a:xfrm>
          <a:prstGeom prst="rect">
            <a:avLst/>
          </a:prstGeom>
          <a:noFill/>
          <a:ln/>
        </p:spPr>
        <p:txBody>
          <a:bodyPr wrap="square" lIns="0" tIns="0" rIns="0" bIns="0" rtlCol="0" anchor="ctr"/>
          <a:lstStyle/>
          <a:p>
            <a:pPr indent="0" marL="0">
              <a:buNone/>
            </a:pPr>
            <a:r>
              <a:rPr lang="en-US" sz="1500" b="1" dirty="0">
                <a:solidFill>
                  <a:schemeClr val="tx1"/>
                </a:solidFill>
              </a:rPr>
              <a:t>team members</a:t>
            </a:r>
            <a:endParaRPr lang="en-US" sz="1500" dirty="0"/>
          </a:p>
        </p:txBody>
      </p:sp>
      <p:sp>
        <p:nvSpPr>
          <p:cNvPr id="15" name="Text 34"/>
          <p:cNvSpPr txBox="1"/>
          <p:nvPr/>
        </p:nvSpPr>
        <p:spPr>
          <a:xfrm>
            <a:off x="749808" y="5440680"/>
            <a:ext cx="1837944" cy="640080"/>
          </a:xfrm>
          <a:prstGeom prst="rect">
            <a:avLst/>
          </a:prstGeom>
          <a:noFill/>
          <a:ln/>
        </p:spPr>
        <p:txBody>
          <a:bodyPr wrap="square" lIns="0" tIns="0" rIns="0" bIns="0" rtlCol="0" anchor="t"/>
          <a:lstStyle/>
          <a:p>
            <a:pPr indent="0" marL="0">
              <a:buNone/>
            </a:pPr>
            <a:r>
              <a:rPr lang="en-US" sz="1200" dirty="0">
                <a:solidFill>
                  <a:schemeClr val="accent4"/>
                </a:solidFill>
              </a:rPr>
              <a:t>4 PD&amp;CS, 4 Designers, 1 Team Lead</a:t>
            </a:r>
            <a:endParaRPr lang="en-US" sz="1200" dirty="0"/>
          </a:p>
        </p:txBody>
      </p:sp>
      <p:sp>
        <p:nvSpPr>
          <p:cNvPr id="16" name="Card 35"/>
          <p:cNvSpPr/>
          <p:nvPr/>
        </p:nvSpPr>
        <p:spPr>
          <a:xfrm>
            <a:off x="2971800" y="3977640"/>
            <a:ext cx="2240280" cy="2194560"/>
          </a:xfrm>
          <a:prstGeom prst="roundRect">
            <a:avLst>
              <a:gd name="adj" fmla="val 3333"/>
            </a:avLst>
          </a:prstGeom>
          <a:solidFill>
            <a:schemeClr val="bg2"/>
          </a:solidFill>
          <a:ln w="12700">
            <a:solidFill>
              <a:schemeClr val="bg2"/>
            </a:solidFill>
            <a:prstDash val="solid"/>
          </a:ln>
        </p:spPr>
      </p:sp>
      <p:sp>
        <p:nvSpPr>
          <p:cNvPr id="17" name="Text 36"/>
          <p:cNvSpPr txBox="1"/>
          <p:nvPr/>
        </p:nvSpPr>
        <p:spPr>
          <a:xfrm>
            <a:off x="3172968" y="4270248"/>
            <a:ext cx="1837944" cy="731520"/>
          </a:xfrm>
          <a:prstGeom prst="rect">
            <a:avLst/>
          </a:prstGeom>
          <a:noFill/>
          <a:ln/>
        </p:spPr>
        <p:txBody>
          <a:bodyPr wrap="square" lIns="0" tIns="0" rIns="0" bIns="0" rtlCol="0" anchor="ctr"/>
          <a:lstStyle/>
          <a:p>
            <a:pPr indent="0" marL="0">
              <a:buNone/>
            </a:pPr>
            <a:r>
              <a:rPr lang="en-US" sz="4400" b="1" dirty="0">
                <a:solidFill>
                  <a:schemeClr val="tx2"/>
                </a:solidFill>
              </a:rPr>
              <a:t>~7×</a:t>
            </a:r>
            <a:endParaRPr lang="en-US" sz="4400" dirty="0"/>
          </a:p>
        </p:txBody>
      </p:sp>
      <p:sp>
        <p:nvSpPr>
          <p:cNvPr id="18" name="Text 37"/>
          <p:cNvSpPr txBox="1"/>
          <p:nvPr/>
        </p:nvSpPr>
        <p:spPr>
          <a:xfrm>
            <a:off x="3172968" y="5093208"/>
            <a:ext cx="1837944" cy="320040"/>
          </a:xfrm>
          <a:prstGeom prst="rect">
            <a:avLst/>
          </a:prstGeom>
          <a:noFill/>
          <a:ln/>
        </p:spPr>
        <p:txBody>
          <a:bodyPr wrap="square" lIns="0" tIns="0" rIns="0" bIns="0" rtlCol="0" anchor="ctr"/>
          <a:lstStyle/>
          <a:p>
            <a:pPr indent="0" marL="0">
              <a:buNone/>
            </a:pPr>
            <a:r>
              <a:rPr lang="en-US" sz="1500" b="1" dirty="0">
                <a:solidFill>
                  <a:schemeClr val="tx1"/>
                </a:solidFill>
              </a:rPr>
              <a:t>volume in peak season</a:t>
            </a:r>
            <a:endParaRPr lang="en-US" sz="1500" dirty="0"/>
          </a:p>
        </p:txBody>
      </p:sp>
      <p:sp>
        <p:nvSpPr>
          <p:cNvPr id="19" name="Text 38"/>
          <p:cNvSpPr txBox="1"/>
          <p:nvPr/>
        </p:nvSpPr>
        <p:spPr>
          <a:xfrm>
            <a:off x="3172968" y="5440680"/>
            <a:ext cx="1837944" cy="640080"/>
          </a:xfrm>
          <a:prstGeom prst="rect">
            <a:avLst/>
          </a:prstGeom>
          <a:noFill/>
          <a:ln/>
        </p:spPr>
        <p:txBody>
          <a:bodyPr wrap="square" lIns="0" tIns="0" rIns="0" bIns="0" rtlCol="0" anchor="t"/>
          <a:lstStyle/>
          <a:p>
            <a:pPr indent="0" marL="0">
              <a:buNone/>
            </a:pPr>
            <a:r>
              <a:rPr lang="en-US" sz="1200" dirty="0">
                <a:solidFill>
                  <a:schemeClr val="accent4"/>
                </a:solidFill>
              </a:rPr>
              <a:t>about 400 orders a week, up to about 2,800</a:t>
            </a:r>
            <a:endParaRPr lang="en-US" sz="1200" dirty="0"/>
          </a:p>
        </p:txBody>
      </p:sp>
      <p:sp>
        <p:nvSpPr>
          <p:cNvPr id="20" name="Text 39"/>
          <p:cNvSpPr txBox="1"/>
          <p:nvPr/>
        </p:nvSpPr>
        <p:spPr>
          <a:xfrm>
            <a:off x="5669280" y="1600200"/>
            <a:ext cx="5973775" cy="365760"/>
          </a:xfrm>
          <a:prstGeom prst="rect">
            <a:avLst/>
          </a:prstGeom>
          <a:noFill/>
          <a:ln/>
        </p:spPr>
        <p:txBody>
          <a:bodyPr wrap="square" lIns="0" tIns="0" rIns="0" bIns="0" rtlCol="0" anchor="ctr"/>
          <a:lstStyle/>
          <a:p>
            <a:pPr indent="0" marL="0">
              <a:buNone/>
            </a:pPr>
            <a:r>
              <a:rPr lang="en-US" sz="1800" b="1" dirty="0">
                <a:solidFill>
                  <a:schemeClr val="tx2"/>
                </a:solidFill>
              </a:rPr>
              <a:t>Each order needs four manual steps</a:t>
            </a:r>
            <a:endParaRPr lang="en-US" sz="1800" dirty="0"/>
          </a:p>
        </p:txBody>
      </p:sp>
      <p:sp>
        <p:nvSpPr>
          <p:cNvPr id="21" name="Icon circle 40"/>
          <p:cNvSpPr/>
          <p:nvPr/>
        </p:nvSpPr>
        <p:spPr>
          <a:xfrm>
            <a:off x="5669280" y="2121408"/>
            <a:ext cx="548640" cy="548640"/>
          </a:xfrm>
          <a:prstGeom prst="ellipse">
            <a:avLst/>
          </a:prstGeom>
          <a:solidFill>
            <a:schemeClr val="accent2"/>
          </a:solidFill>
          <a:ln w="12700">
            <a:solidFill>
              <a:schemeClr val="accent2"/>
            </a:solidFill>
            <a:prstDash val="solid"/>
          </a:ln>
        </p:spPr>
      </p:sp>
      <p:pic>
        <p:nvPicPr>
          <p:cNvPr id="22" name="Icon 41" descr="preencoded.png">    </p:cNvPr>
          <p:cNvPicPr>
            <a:picLocks noChangeAspect="1"/>
          </p:cNvPicPr>
          <p:nvPr/>
        </p:nvPicPr>
        <p:blipFill>
          <a:blip r:embed="rId1"/>
          <a:stretch>
            <a:fillRect/>
          </a:stretch>
        </p:blipFill>
        <p:spPr>
          <a:xfrm>
            <a:off x="5815584" y="2267712"/>
            <a:ext cx="256032" cy="256032"/>
          </a:xfrm>
          <a:prstGeom prst="rect">
            <a:avLst/>
          </a:prstGeom>
        </p:spPr>
      </p:pic>
      <p:sp>
        <p:nvSpPr>
          <p:cNvPr id="23" name="Text 42"/>
          <p:cNvSpPr txBox="1"/>
          <p:nvPr/>
        </p:nvSpPr>
        <p:spPr>
          <a:xfrm>
            <a:off x="6400800" y="2103120"/>
            <a:ext cx="5242255" cy="292608"/>
          </a:xfrm>
          <a:prstGeom prst="rect">
            <a:avLst/>
          </a:prstGeom>
          <a:noFill/>
          <a:ln/>
        </p:spPr>
        <p:txBody>
          <a:bodyPr wrap="square" lIns="0" tIns="0" rIns="0" bIns="0" rtlCol="0" anchor="ctr"/>
          <a:lstStyle/>
          <a:p>
            <a:pPr indent="0" marL="0">
              <a:buNone/>
            </a:pPr>
            <a:r>
              <a:rPr lang="en-US" sz="1500" b="1" dirty="0">
                <a:solidFill>
                  <a:schemeClr val="tx1"/>
                </a:solidFill>
              </a:rPr>
              <a:t>1. Select the supplier</a:t>
            </a:r>
            <a:endParaRPr lang="en-US" sz="1500" dirty="0"/>
          </a:p>
        </p:txBody>
      </p:sp>
      <p:sp>
        <p:nvSpPr>
          <p:cNvPr id="24" name="Text 43"/>
          <p:cNvSpPr txBox="1"/>
          <p:nvPr/>
        </p:nvSpPr>
        <p:spPr>
          <a:xfrm>
            <a:off x="6400800" y="2395728"/>
            <a:ext cx="5242255" cy="292608"/>
          </a:xfrm>
          <a:prstGeom prst="rect">
            <a:avLst/>
          </a:prstGeom>
          <a:noFill/>
          <a:ln/>
        </p:spPr>
        <p:txBody>
          <a:bodyPr wrap="square" lIns="0" tIns="0" rIns="0" bIns="0" rtlCol="0" anchor="ctr"/>
          <a:lstStyle/>
          <a:p>
            <a:pPr indent="0" marL="0">
              <a:buNone/>
            </a:pPr>
            <a:r>
              <a:rPr lang="en-US" sz="1300" dirty="0">
                <a:solidFill>
                  <a:schemeClr val="accent4"/>
                </a:solidFill>
              </a:rPr>
              <a:t>PD&amp;CS choose a supplier by hand for every order.</a:t>
            </a:r>
            <a:endParaRPr lang="en-US" sz="1300" dirty="0"/>
          </a:p>
        </p:txBody>
      </p:sp>
      <p:sp>
        <p:nvSpPr>
          <p:cNvPr id="25" name="Icon circle 44"/>
          <p:cNvSpPr/>
          <p:nvPr/>
        </p:nvSpPr>
        <p:spPr>
          <a:xfrm>
            <a:off x="5669280" y="2852928"/>
            <a:ext cx="548640" cy="548640"/>
          </a:xfrm>
          <a:prstGeom prst="ellipse">
            <a:avLst/>
          </a:prstGeom>
          <a:solidFill>
            <a:schemeClr val="accent2"/>
          </a:solidFill>
          <a:ln w="12700">
            <a:solidFill>
              <a:schemeClr val="accent2"/>
            </a:solidFill>
            <a:prstDash val="solid"/>
          </a:ln>
        </p:spPr>
      </p:sp>
      <p:pic>
        <p:nvPicPr>
          <p:cNvPr id="26" name="Icon 45" descr="preencoded.png">    </p:cNvPr>
          <p:cNvPicPr>
            <a:picLocks noChangeAspect="1"/>
          </p:cNvPicPr>
          <p:nvPr/>
        </p:nvPicPr>
        <p:blipFill>
          <a:blip r:embed="rId2"/>
          <a:stretch>
            <a:fillRect/>
          </a:stretch>
        </p:blipFill>
        <p:spPr>
          <a:xfrm>
            <a:off x="5815584" y="2999232"/>
            <a:ext cx="256032" cy="256032"/>
          </a:xfrm>
          <a:prstGeom prst="rect">
            <a:avLst/>
          </a:prstGeom>
        </p:spPr>
      </p:pic>
      <p:sp>
        <p:nvSpPr>
          <p:cNvPr id="27" name="Text 46"/>
          <p:cNvSpPr txBox="1"/>
          <p:nvPr/>
        </p:nvSpPr>
        <p:spPr>
          <a:xfrm>
            <a:off x="6400800" y="2834640"/>
            <a:ext cx="5242255" cy="292608"/>
          </a:xfrm>
          <a:prstGeom prst="rect">
            <a:avLst/>
          </a:prstGeom>
          <a:noFill/>
          <a:ln/>
        </p:spPr>
        <p:txBody>
          <a:bodyPr wrap="square" lIns="0" tIns="0" rIns="0" bIns="0" rtlCol="0" anchor="ctr"/>
          <a:lstStyle/>
          <a:p>
            <a:pPr indent="0" marL="0">
              <a:buNone/>
            </a:pPr>
            <a:r>
              <a:rPr lang="en-US" sz="1500" b="1" dirty="0">
                <a:solidFill>
                  <a:schemeClr val="tx1"/>
                </a:solidFill>
              </a:rPr>
              <a:t>2. Enter the order</a:t>
            </a:r>
            <a:endParaRPr lang="en-US" sz="1500" dirty="0"/>
          </a:p>
        </p:txBody>
      </p:sp>
      <p:sp>
        <p:nvSpPr>
          <p:cNvPr id="28" name="Text 47"/>
          <p:cNvSpPr txBox="1"/>
          <p:nvPr/>
        </p:nvSpPr>
        <p:spPr>
          <a:xfrm>
            <a:off x="6400800" y="3127248"/>
            <a:ext cx="5242255" cy="292608"/>
          </a:xfrm>
          <a:prstGeom prst="rect">
            <a:avLst/>
          </a:prstGeom>
          <a:noFill/>
          <a:ln/>
        </p:spPr>
        <p:txBody>
          <a:bodyPr wrap="square" lIns="0" tIns="0" rIns="0" bIns="0" rtlCol="0" anchor="ctr"/>
          <a:lstStyle/>
          <a:p>
            <a:pPr indent="0" marL="0">
              <a:buNone/>
            </a:pPr>
            <a:r>
              <a:rPr lang="en-US" sz="1300" dirty="0">
                <a:solidFill>
                  <a:schemeClr val="accent4"/>
                </a:solidFill>
              </a:rPr>
              <a:t>Order and artwork details are typed into the supplier's system.</a:t>
            </a:r>
            <a:endParaRPr lang="en-US" sz="1300" dirty="0"/>
          </a:p>
        </p:txBody>
      </p:sp>
      <p:sp>
        <p:nvSpPr>
          <p:cNvPr id="29" name="Icon circle 48"/>
          <p:cNvSpPr/>
          <p:nvPr/>
        </p:nvSpPr>
        <p:spPr>
          <a:xfrm>
            <a:off x="5669280" y="3584448"/>
            <a:ext cx="548640" cy="548640"/>
          </a:xfrm>
          <a:prstGeom prst="ellipse">
            <a:avLst/>
          </a:prstGeom>
          <a:solidFill>
            <a:schemeClr val="accent2"/>
          </a:solidFill>
          <a:ln w="12700">
            <a:solidFill>
              <a:schemeClr val="accent2"/>
            </a:solidFill>
            <a:prstDash val="solid"/>
          </a:ln>
        </p:spPr>
      </p:sp>
      <p:pic>
        <p:nvPicPr>
          <p:cNvPr id="30" name="Icon 49" descr="preencoded.png">    </p:cNvPr>
          <p:cNvPicPr>
            <a:picLocks noChangeAspect="1"/>
          </p:cNvPicPr>
          <p:nvPr/>
        </p:nvPicPr>
        <p:blipFill>
          <a:blip r:embed="rId3"/>
          <a:stretch>
            <a:fillRect/>
          </a:stretch>
        </p:blipFill>
        <p:spPr>
          <a:xfrm>
            <a:off x="5815584" y="3730752"/>
            <a:ext cx="256032" cy="256032"/>
          </a:xfrm>
          <a:prstGeom prst="rect">
            <a:avLst/>
          </a:prstGeom>
        </p:spPr>
      </p:pic>
      <p:sp>
        <p:nvSpPr>
          <p:cNvPr id="31" name="Text 50"/>
          <p:cNvSpPr txBox="1"/>
          <p:nvPr/>
        </p:nvSpPr>
        <p:spPr>
          <a:xfrm>
            <a:off x="6400800" y="3566160"/>
            <a:ext cx="5242255" cy="292608"/>
          </a:xfrm>
          <a:prstGeom prst="rect">
            <a:avLst/>
          </a:prstGeom>
          <a:noFill/>
          <a:ln/>
        </p:spPr>
        <p:txBody>
          <a:bodyPr wrap="square" lIns="0" tIns="0" rIns="0" bIns="0" rtlCol="0" anchor="ctr"/>
          <a:lstStyle/>
          <a:p>
            <a:pPr indent="0" marL="0">
              <a:buNone/>
            </a:pPr>
            <a:r>
              <a:rPr lang="en-US" sz="1500" b="1" dirty="0">
                <a:solidFill>
                  <a:schemeClr val="tx1"/>
                </a:solidFill>
              </a:rPr>
              <a:t>3. Check status again and again</a:t>
            </a:r>
            <a:endParaRPr lang="en-US" sz="1500" dirty="0"/>
          </a:p>
        </p:txBody>
      </p:sp>
      <p:sp>
        <p:nvSpPr>
          <p:cNvPr id="32" name="Text 51"/>
          <p:cNvSpPr txBox="1"/>
          <p:nvPr/>
        </p:nvSpPr>
        <p:spPr>
          <a:xfrm>
            <a:off x="6400800" y="3858768"/>
            <a:ext cx="5242255" cy="292608"/>
          </a:xfrm>
          <a:prstGeom prst="rect">
            <a:avLst/>
          </a:prstGeom>
          <a:noFill/>
          <a:ln/>
        </p:spPr>
        <p:txBody>
          <a:bodyPr wrap="square" lIns="0" tIns="0" rIns="0" bIns="0" rtlCol="0" anchor="ctr"/>
          <a:lstStyle/>
          <a:p>
            <a:pPr indent="0" marL="0">
              <a:buNone/>
            </a:pPr>
            <a:r>
              <a:rPr lang="en-US" sz="1300" dirty="0">
                <a:solidFill>
                  <a:schemeClr val="accent4"/>
                </a:solidFill>
              </a:rPr>
              <a:t>Staff open each supplier system to see production and shipping status.</a:t>
            </a:r>
            <a:endParaRPr lang="en-US" sz="1300" dirty="0"/>
          </a:p>
        </p:txBody>
      </p:sp>
      <p:sp>
        <p:nvSpPr>
          <p:cNvPr id="33" name="Icon circle 52"/>
          <p:cNvSpPr/>
          <p:nvPr/>
        </p:nvSpPr>
        <p:spPr>
          <a:xfrm>
            <a:off x="5669280" y="4315968"/>
            <a:ext cx="548640" cy="548640"/>
          </a:xfrm>
          <a:prstGeom prst="ellipse">
            <a:avLst/>
          </a:prstGeom>
          <a:solidFill>
            <a:schemeClr val="accent2"/>
          </a:solidFill>
          <a:ln w="12700">
            <a:solidFill>
              <a:schemeClr val="accent2"/>
            </a:solidFill>
            <a:prstDash val="solid"/>
          </a:ln>
        </p:spPr>
      </p:sp>
      <p:pic>
        <p:nvPicPr>
          <p:cNvPr id="34" name="Icon 53" descr="preencoded.png">    </p:cNvPr>
          <p:cNvPicPr>
            <a:picLocks noChangeAspect="1"/>
          </p:cNvPicPr>
          <p:nvPr/>
        </p:nvPicPr>
        <p:blipFill>
          <a:blip r:embed="rId4"/>
          <a:stretch>
            <a:fillRect/>
          </a:stretch>
        </p:blipFill>
        <p:spPr>
          <a:xfrm>
            <a:off x="5815584" y="4462272"/>
            <a:ext cx="256032" cy="256032"/>
          </a:xfrm>
          <a:prstGeom prst="rect">
            <a:avLst/>
          </a:prstGeom>
        </p:spPr>
      </p:pic>
      <p:sp>
        <p:nvSpPr>
          <p:cNvPr id="35" name="Text 54"/>
          <p:cNvSpPr txBox="1"/>
          <p:nvPr/>
        </p:nvSpPr>
        <p:spPr>
          <a:xfrm>
            <a:off x="6400800" y="4297680"/>
            <a:ext cx="5242255" cy="292608"/>
          </a:xfrm>
          <a:prstGeom prst="rect">
            <a:avLst/>
          </a:prstGeom>
          <a:noFill/>
          <a:ln/>
        </p:spPr>
        <p:txBody>
          <a:bodyPr wrap="square" lIns="0" tIns="0" rIns="0" bIns="0" rtlCol="0" anchor="ctr"/>
          <a:lstStyle/>
          <a:p>
            <a:pPr indent="0" marL="0">
              <a:buNone/>
            </a:pPr>
            <a:r>
              <a:rPr lang="en-US" sz="1500" b="1" dirty="0">
                <a:solidFill>
                  <a:schemeClr val="tx1"/>
                </a:solidFill>
              </a:rPr>
              <a:t>4. Copy tracking back to Etsy</a:t>
            </a:r>
            <a:endParaRPr lang="en-US" sz="1500" dirty="0"/>
          </a:p>
        </p:txBody>
      </p:sp>
      <p:sp>
        <p:nvSpPr>
          <p:cNvPr id="36" name="Text 55"/>
          <p:cNvSpPr txBox="1"/>
          <p:nvPr/>
        </p:nvSpPr>
        <p:spPr>
          <a:xfrm>
            <a:off x="6400800" y="4590288"/>
            <a:ext cx="5242255" cy="292608"/>
          </a:xfrm>
          <a:prstGeom prst="rect">
            <a:avLst/>
          </a:prstGeom>
          <a:noFill/>
          <a:ln/>
        </p:spPr>
        <p:txBody>
          <a:bodyPr wrap="square" lIns="0" tIns="0" rIns="0" bIns="0" rtlCol="0" anchor="ctr"/>
          <a:lstStyle/>
          <a:p>
            <a:pPr indent="0" marL="0">
              <a:buNone/>
            </a:pPr>
            <a:r>
              <a:rPr lang="en-US" sz="1300" dirty="0">
                <a:solidFill>
                  <a:schemeClr val="accent4"/>
                </a:solidFill>
              </a:rPr>
              <a:t>Tracking numbers are copied from the supplier system to Etsy.</a:t>
            </a:r>
            <a:endParaRPr lang="en-US" sz="1300" dirty="0"/>
          </a:p>
        </p:txBody>
      </p:sp>
      <p:sp>
        <p:nvSpPr>
          <p:cNvPr id="37" name="Card 56"/>
          <p:cNvSpPr/>
          <p:nvPr/>
        </p:nvSpPr>
        <p:spPr>
          <a:xfrm>
            <a:off x="5669280" y="5120640"/>
            <a:ext cx="5973775" cy="1051560"/>
          </a:xfrm>
          <a:prstGeom prst="roundRect">
            <a:avLst>
              <a:gd name="adj" fmla="val 6957"/>
            </a:avLst>
          </a:prstGeom>
          <a:solidFill>
            <a:schemeClr val="accent6"/>
          </a:solidFill>
          <a:ln w="12700">
            <a:solidFill>
              <a:schemeClr val="accent6"/>
            </a:solidFill>
            <a:prstDash val="solid"/>
          </a:ln>
        </p:spPr>
      </p:sp>
      <p:sp>
        <p:nvSpPr>
          <p:cNvPr id="38" name="Text 57"/>
          <p:cNvSpPr txBox="1"/>
          <p:nvPr/>
        </p:nvSpPr>
        <p:spPr>
          <a:xfrm>
            <a:off x="5897880" y="5193792"/>
            <a:ext cx="5516575" cy="905256"/>
          </a:xfrm>
          <a:prstGeom prst="rect">
            <a:avLst/>
          </a:prstGeom>
          <a:noFill/>
          <a:ln/>
        </p:spPr>
        <p:txBody>
          <a:bodyPr wrap="square" lIns="0" tIns="0" rIns="0" bIns="0" rtlCol="0" anchor="ctr"/>
          <a:lstStyle/>
          <a:p>
            <a:pPr indent="0" marL="0">
              <a:buNone/>
            </a:pPr>
            <a:r>
              <a:rPr lang="en-US" sz="1400" b="1" dirty="0">
                <a:solidFill>
                  <a:schemeClr val="tx2"/>
                </a:solidFill>
              </a:rPr>
              <a:t>The problem  </a:t>
            </a:r>
            <a:pPr indent="0" marL="0">
              <a:buNone/>
            </a:pPr>
            <a:r>
              <a:rPr lang="en-US" sz="1400" dirty="0">
                <a:solidFill>
                  <a:schemeClr val="tx1"/>
                </a:solidFill>
              </a:rPr>
              <a:t>Information is spread across Etsy, supplier systems, spreadsheets, notebooks and chat. There is no shared view of order status, so late or stuck orders are hard to spot early in peak season.</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The current order flow has four manual steps and eight pain points in scope.</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As-Is Process and Pain Points</a:t>
            </a:r>
            <a:endParaRPr lang="en-US" sz="3200" dirty="0"/>
          </a:p>
        </p:txBody>
      </p:sp>
      <p:pic>
        <p:nvPicPr>
          <p:cNvPr id="4" name="As-Is order fulfillment diagram" descr="As-Is order management and fulfillment swimlane diagram">    </p:cNvPr>
          <p:cNvPicPr>
            <a:picLocks noChangeAspect="1"/>
          </p:cNvPicPr>
          <p:nvPr/>
        </p:nvPicPr>
        <p:blipFill>
          <a:blip r:embed="rId1"/>
          <a:stretch>
            <a:fillRect/>
          </a:stretch>
        </p:blipFill>
        <p:spPr>
          <a:xfrm>
            <a:off x="548640" y="1463040"/>
            <a:ext cx="11094415" cy="2794869"/>
          </a:xfrm>
          <a:prstGeom prst="rect">
            <a:avLst/>
          </a:prstGeom>
        </p:spPr>
      </p:pic>
      <p:sp>
        <p:nvSpPr>
          <p:cNvPr id="5" name="Card 58"/>
          <p:cNvSpPr/>
          <p:nvPr/>
        </p:nvSpPr>
        <p:spPr>
          <a:xfrm>
            <a:off x="548640" y="4440789"/>
            <a:ext cx="2650160" cy="658368"/>
          </a:xfrm>
          <a:prstGeom prst="roundRect">
            <a:avLst>
              <a:gd name="adj" fmla="val 11111"/>
            </a:avLst>
          </a:prstGeom>
          <a:solidFill>
            <a:schemeClr val="bg2"/>
          </a:solidFill>
          <a:ln w="12700">
            <a:solidFill>
              <a:schemeClr val="bg2"/>
            </a:solidFill>
            <a:prstDash val="solid"/>
          </a:ln>
        </p:spPr>
      </p:sp>
      <p:sp>
        <p:nvSpPr>
          <p:cNvPr id="6" name="Chip 59"/>
          <p:cNvSpPr/>
          <p:nvPr/>
        </p:nvSpPr>
        <p:spPr>
          <a:xfrm>
            <a:off x="676656" y="4632813"/>
            <a:ext cx="658368"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AP-03</a:t>
            </a:r>
            <a:endParaRPr lang="en-US" sz="1100" dirty="0"/>
          </a:p>
        </p:txBody>
      </p:sp>
      <p:sp>
        <p:nvSpPr>
          <p:cNvPr id="7" name="Text 60"/>
          <p:cNvSpPr txBox="1"/>
          <p:nvPr/>
        </p:nvSpPr>
        <p:spPr>
          <a:xfrm>
            <a:off x="1444752" y="4495653"/>
            <a:ext cx="1644320" cy="548640"/>
          </a:xfrm>
          <a:prstGeom prst="rect">
            <a:avLst/>
          </a:prstGeom>
          <a:noFill/>
          <a:ln/>
        </p:spPr>
        <p:txBody>
          <a:bodyPr wrap="square" lIns="0" tIns="0" rIns="0" bIns="0" rtlCol="0" anchor="ctr"/>
          <a:lstStyle/>
          <a:p>
            <a:pPr indent="0" marL="0">
              <a:buNone/>
            </a:pPr>
            <a:r>
              <a:rPr lang="en-US" sz="1200" dirty="0">
                <a:solidFill>
                  <a:schemeClr val="tx1"/>
                </a:solidFill>
              </a:rPr>
              <a:t>Information spread across many tools</a:t>
            </a:r>
            <a:endParaRPr lang="en-US" sz="1200" dirty="0"/>
          </a:p>
        </p:txBody>
      </p:sp>
      <p:sp>
        <p:nvSpPr>
          <p:cNvPr id="8" name="Card 61"/>
          <p:cNvSpPr/>
          <p:nvPr/>
        </p:nvSpPr>
        <p:spPr>
          <a:xfrm>
            <a:off x="3363392" y="4440789"/>
            <a:ext cx="2650160" cy="658368"/>
          </a:xfrm>
          <a:prstGeom prst="roundRect">
            <a:avLst>
              <a:gd name="adj" fmla="val 11111"/>
            </a:avLst>
          </a:prstGeom>
          <a:solidFill>
            <a:schemeClr val="bg2"/>
          </a:solidFill>
          <a:ln w="12700">
            <a:solidFill>
              <a:schemeClr val="bg2"/>
            </a:solidFill>
            <a:prstDash val="solid"/>
          </a:ln>
        </p:spPr>
      </p:sp>
      <p:sp>
        <p:nvSpPr>
          <p:cNvPr id="9" name="Chip 62"/>
          <p:cNvSpPr/>
          <p:nvPr/>
        </p:nvSpPr>
        <p:spPr>
          <a:xfrm>
            <a:off x="3491408" y="4632813"/>
            <a:ext cx="658368"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AP-04</a:t>
            </a:r>
            <a:endParaRPr lang="en-US" sz="1100" dirty="0"/>
          </a:p>
        </p:txBody>
      </p:sp>
      <p:sp>
        <p:nvSpPr>
          <p:cNvPr id="10" name="Text 63"/>
          <p:cNvSpPr txBox="1"/>
          <p:nvPr/>
        </p:nvSpPr>
        <p:spPr>
          <a:xfrm>
            <a:off x="4259504" y="4495653"/>
            <a:ext cx="1644320" cy="548640"/>
          </a:xfrm>
          <a:prstGeom prst="rect">
            <a:avLst/>
          </a:prstGeom>
          <a:noFill/>
          <a:ln/>
        </p:spPr>
        <p:txBody>
          <a:bodyPr wrap="square" lIns="0" tIns="0" rIns="0" bIns="0" rtlCol="0" anchor="ctr"/>
          <a:lstStyle/>
          <a:p>
            <a:pPr indent="0" marL="0">
              <a:buNone/>
            </a:pPr>
            <a:r>
              <a:rPr lang="en-US" sz="1200" dirty="0">
                <a:solidFill>
                  <a:schemeClr val="tx1"/>
                </a:solidFill>
              </a:rPr>
              <a:t>Supplier chosen by hand for every order</a:t>
            </a:r>
            <a:endParaRPr lang="en-US" sz="1200" dirty="0"/>
          </a:p>
        </p:txBody>
      </p:sp>
      <p:sp>
        <p:nvSpPr>
          <p:cNvPr id="11" name="Card 64"/>
          <p:cNvSpPr/>
          <p:nvPr/>
        </p:nvSpPr>
        <p:spPr>
          <a:xfrm>
            <a:off x="6178144" y="4440789"/>
            <a:ext cx="2650160" cy="658368"/>
          </a:xfrm>
          <a:prstGeom prst="roundRect">
            <a:avLst>
              <a:gd name="adj" fmla="val 11111"/>
            </a:avLst>
          </a:prstGeom>
          <a:solidFill>
            <a:schemeClr val="bg2"/>
          </a:solidFill>
          <a:ln w="12700">
            <a:solidFill>
              <a:schemeClr val="bg2"/>
            </a:solidFill>
            <a:prstDash val="solid"/>
          </a:ln>
        </p:spPr>
      </p:sp>
      <p:sp>
        <p:nvSpPr>
          <p:cNvPr id="12" name="Chip 65"/>
          <p:cNvSpPr/>
          <p:nvPr/>
        </p:nvSpPr>
        <p:spPr>
          <a:xfrm>
            <a:off x="6306160" y="4632813"/>
            <a:ext cx="658368"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AP-05</a:t>
            </a:r>
            <a:endParaRPr lang="en-US" sz="1100" dirty="0"/>
          </a:p>
        </p:txBody>
      </p:sp>
      <p:sp>
        <p:nvSpPr>
          <p:cNvPr id="13" name="Text 66"/>
          <p:cNvSpPr txBox="1"/>
          <p:nvPr/>
        </p:nvSpPr>
        <p:spPr>
          <a:xfrm>
            <a:off x="7074256" y="4495653"/>
            <a:ext cx="1644320" cy="548640"/>
          </a:xfrm>
          <a:prstGeom prst="rect">
            <a:avLst/>
          </a:prstGeom>
          <a:noFill/>
          <a:ln/>
        </p:spPr>
        <p:txBody>
          <a:bodyPr wrap="square" lIns="0" tIns="0" rIns="0" bIns="0" rtlCol="0" anchor="ctr"/>
          <a:lstStyle/>
          <a:p>
            <a:pPr indent="0" marL="0">
              <a:buNone/>
            </a:pPr>
            <a:r>
              <a:rPr lang="en-US" sz="1200" dirty="0">
                <a:solidFill>
                  <a:schemeClr val="tx1"/>
                </a:solidFill>
              </a:rPr>
              <a:t>Order and artwork details retyped</a:t>
            </a:r>
            <a:endParaRPr lang="en-US" sz="1200" dirty="0"/>
          </a:p>
        </p:txBody>
      </p:sp>
      <p:sp>
        <p:nvSpPr>
          <p:cNvPr id="14" name="Card 67"/>
          <p:cNvSpPr/>
          <p:nvPr/>
        </p:nvSpPr>
        <p:spPr>
          <a:xfrm>
            <a:off x="8992895" y="4440789"/>
            <a:ext cx="2650160" cy="658368"/>
          </a:xfrm>
          <a:prstGeom prst="roundRect">
            <a:avLst>
              <a:gd name="adj" fmla="val 11111"/>
            </a:avLst>
          </a:prstGeom>
          <a:solidFill>
            <a:schemeClr val="bg2"/>
          </a:solidFill>
          <a:ln w="12700">
            <a:solidFill>
              <a:schemeClr val="bg2"/>
            </a:solidFill>
            <a:prstDash val="solid"/>
          </a:ln>
        </p:spPr>
      </p:sp>
      <p:sp>
        <p:nvSpPr>
          <p:cNvPr id="15" name="Chip 68"/>
          <p:cNvSpPr/>
          <p:nvPr/>
        </p:nvSpPr>
        <p:spPr>
          <a:xfrm>
            <a:off x="9120911" y="4632813"/>
            <a:ext cx="658368"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AP-06</a:t>
            </a:r>
            <a:endParaRPr lang="en-US" sz="1100" dirty="0"/>
          </a:p>
        </p:txBody>
      </p:sp>
      <p:sp>
        <p:nvSpPr>
          <p:cNvPr id="16" name="Text 69"/>
          <p:cNvSpPr txBox="1"/>
          <p:nvPr/>
        </p:nvSpPr>
        <p:spPr>
          <a:xfrm>
            <a:off x="9889007" y="4495653"/>
            <a:ext cx="1644320" cy="548640"/>
          </a:xfrm>
          <a:prstGeom prst="rect">
            <a:avLst/>
          </a:prstGeom>
          <a:noFill/>
          <a:ln/>
        </p:spPr>
        <p:txBody>
          <a:bodyPr wrap="square" lIns="0" tIns="0" rIns="0" bIns="0" rtlCol="0" anchor="ctr"/>
          <a:lstStyle/>
          <a:p>
            <a:pPr indent="0" marL="0">
              <a:buNone/>
            </a:pPr>
            <a:r>
              <a:rPr lang="en-US" sz="1200" dirty="0">
                <a:solidFill>
                  <a:schemeClr val="tx1"/>
                </a:solidFill>
              </a:rPr>
              <a:t>Status checked repeatedly in supplier systems</a:t>
            </a:r>
            <a:endParaRPr lang="en-US" sz="1200" dirty="0"/>
          </a:p>
        </p:txBody>
      </p:sp>
      <p:sp>
        <p:nvSpPr>
          <p:cNvPr id="17" name="Card 70"/>
          <p:cNvSpPr/>
          <p:nvPr/>
        </p:nvSpPr>
        <p:spPr>
          <a:xfrm>
            <a:off x="548640" y="5227173"/>
            <a:ext cx="2650160" cy="658368"/>
          </a:xfrm>
          <a:prstGeom prst="roundRect">
            <a:avLst>
              <a:gd name="adj" fmla="val 11111"/>
            </a:avLst>
          </a:prstGeom>
          <a:solidFill>
            <a:schemeClr val="bg2"/>
          </a:solidFill>
          <a:ln w="12700">
            <a:solidFill>
              <a:schemeClr val="bg2"/>
            </a:solidFill>
            <a:prstDash val="solid"/>
          </a:ln>
        </p:spPr>
      </p:sp>
      <p:sp>
        <p:nvSpPr>
          <p:cNvPr id="18" name="Chip 71"/>
          <p:cNvSpPr/>
          <p:nvPr/>
        </p:nvSpPr>
        <p:spPr>
          <a:xfrm>
            <a:off x="676656" y="5419197"/>
            <a:ext cx="658368"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AP-07</a:t>
            </a:r>
            <a:endParaRPr lang="en-US" sz="1100" dirty="0"/>
          </a:p>
        </p:txBody>
      </p:sp>
      <p:sp>
        <p:nvSpPr>
          <p:cNvPr id="19" name="Text 72"/>
          <p:cNvSpPr txBox="1"/>
          <p:nvPr/>
        </p:nvSpPr>
        <p:spPr>
          <a:xfrm>
            <a:off x="1444752" y="5282037"/>
            <a:ext cx="1644320" cy="548640"/>
          </a:xfrm>
          <a:prstGeom prst="rect">
            <a:avLst/>
          </a:prstGeom>
          <a:noFill/>
          <a:ln/>
        </p:spPr>
        <p:txBody>
          <a:bodyPr wrap="square" lIns="0" tIns="0" rIns="0" bIns="0" rtlCol="0" anchor="ctr"/>
          <a:lstStyle/>
          <a:p>
            <a:pPr indent="0" marL="0">
              <a:buNone/>
            </a:pPr>
            <a:r>
              <a:rPr lang="en-US" sz="1200" dirty="0">
                <a:solidFill>
                  <a:schemeClr val="tx1"/>
                </a:solidFill>
              </a:rPr>
              <a:t>Tracking numbers copied to Etsy by hand</a:t>
            </a:r>
            <a:endParaRPr lang="en-US" sz="1200" dirty="0"/>
          </a:p>
        </p:txBody>
      </p:sp>
      <p:sp>
        <p:nvSpPr>
          <p:cNvPr id="20" name="Card 73"/>
          <p:cNvSpPr/>
          <p:nvPr/>
        </p:nvSpPr>
        <p:spPr>
          <a:xfrm>
            <a:off x="3363392" y="5227173"/>
            <a:ext cx="2650160" cy="658368"/>
          </a:xfrm>
          <a:prstGeom prst="roundRect">
            <a:avLst>
              <a:gd name="adj" fmla="val 11111"/>
            </a:avLst>
          </a:prstGeom>
          <a:solidFill>
            <a:schemeClr val="bg2"/>
          </a:solidFill>
          <a:ln w="12700">
            <a:solidFill>
              <a:schemeClr val="bg2"/>
            </a:solidFill>
            <a:prstDash val="solid"/>
          </a:ln>
        </p:spPr>
      </p:sp>
      <p:sp>
        <p:nvSpPr>
          <p:cNvPr id="21" name="Chip 74"/>
          <p:cNvSpPr/>
          <p:nvPr/>
        </p:nvSpPr>
        <p:spPr>
          <a:xfrm>
            <a:off x="3491408" y="5419197"/>
            <a:ext cx="658368"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AP-08</a:t>
            </a:r>
            <a:endParaRPr lang="en-US" sz="1100" dirty="0"/>
          </a:p>
        </p:txBody>
      </p:sp>
      <p:sp>
        <p:nvSpPr>
          <p:cNvPr id="22" name="Text 75"/>
          <p:cNvSpPr txBox="1"/>
          <p:nvPr/>
        </p:nvSpPr>
        <p:spPr>
          <a:xfrm>
            <a:off x="4259504" y="5282037"/>
            <a:ext cx="1644320" cy="548640"/>
          </a:xfrm>
          <a:prstGeom prst="rect">
            <a:avLst/>
          </a:prstGeom>
          <a:noFill/>
          <a:ln/>
        </p:spPr>
        <p:txBody>
          <a:bodyPr wrap="square" lIns="0" tIns="0" rIns="0" bIns="0" rtlCol="0" anchor="ctr"/>
          <a:lstStyle/>
          <a:p>
            <a:pPr indent="0" marL="0">
              <a:buNone/>
            </a:pPr>
            <a:r>
              <a:rPr lang="en-US" sz="1200" dirty="0">
                <a:solidFill>
                  <a:schemeClr val="tx1"/>
                </a:solidFill>
              </a:rPr>
              <a:t>Late or stuck orders found too late in peak</a:t>
            </a:r>
            <a:endParaRPr lang="en-US" sz="1200" dirty="0"/>
          </a:p>
        </p:txBody>
      </p:sp>
      <p:sp>
        <p:nvSpPr>
          <p:cNvPr id="23" name="Card 76"/>
          <p:cNvSpPr/>
          <p:nvPr/>
        </p:nvSpPr>
        <p:spPr>
          <a:xfrm>
            <a:off x="6178144" y="5227173"/>
            <a:ext cx="2650160" cy="658368"/>
          </a:xfrm>
          <a:prstGeom prst="roundRect">
            <a:avLst>
              <a:gd name="adj" fmla="val 11111"/>
            </a:avLst>
          </a:prstGeom>
          <a:solidFill>
            <a:schemeClr val="bg2"/>
          </a:solidFill>
          <a:ln w="12700">
            <a:solidFill>
              <a:schemeClr val="bg2"/>
            </a:solidFill>
            <a:prstDash val="solid"/>
          </a:ln>
        </p:spPr>
      </p:sp>
      <p:sp>
        <p:nvSpPr>
          <p:cNvPr id="24" name="Chip 77"/>
          <p:cNvSpPr/>
          <p:nvPr/>
        </p:nvSpPr>
        <p:spPr>
          <a:xfrm>
            <a:off x="6306160" y="5419197"/>
            <a:ext cx="658368"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AP-09</a:t>
            </a:r>
            <a:endParaRPr lang="en-US" sz="1100" dirty="0"/>
          </a:p>
        </p:txBody>
      </p:sp>
      <p:sp>
        <p:nvSpPr>
          <p:cNvPr id="25" name="Text 78"/>
          <p:cNvSpPr txBox="1"/>
          <p:nvPr/>
        </p:nvSpPr>
        <p:spPr>
          <a:xfrm>
            <a:off x="7074256" y="5282037"/>
            <a:ext cx="1644320" cy="548640"/>
          </a:xfrm>
          <a:prstGeom prst="rect">
            <a:avLst/>
          </a:prstGeom>
          <a:noFill/>
          <a:ln/>
        </p:spPr>
        <p:txBody>
          <a:bodyPr wrap="square" lIns="0" tIns="0" rIns="0" bIns="0" rtlCol="0" anchor="ctr"/>
          <a:lstStyle/>
          <a:p>
            <a:pPr indent="0" marL="0">
              <a:buNone/>
            </a:pPr>
            <a:r>
              <a:rPr lang="en-US" sz="1200" dirty="0">
                <a:solidFill>
                  <a:schemeClr val="tx1"/>
                </a:solidFill>
              </a:rPr>
              <a:t>Weekly report prepared by hand (6–8 hours)</a:t>
            </a:r>
            <a:endParaRPr lang="en-US" sz="1200" dirty="0"/>
          </a:p>
        </p:txBody>
      </p:sp>
      <p:sp>
        <p:nvSpPr>
          <p:cNvPr id="26" name="Card 79"/>
          <p:cNvSpPr/>
          <p:nvPr/>
        </p:nvSpPr>
        <p:spPr>
          <a:xfrm>
            <a:off x="8992895" y="5227173"/>
            <a:ext cx="2650160" cy="658368"/>
          </a:xfrm>
          <a:prstGeom prst="roundRect">
            <a:avLst>
              <a:gd name="adj" fmla="val 11111"/>
            </a:avLst>
          </a:prstGeom>
          <a:solidFill>
            <a:schemeClr val="bg2"/>
          </a:solidFill>
          <a:ln w="12700">
            <a:solidFill>
              <a:schemeClr val="bg2"/>
            </a:solidFill>
            <a:prstDash val="solid"/>
          </a:ln>
        </p:spPr>
      </p:sp>
      <p:sp>
        <p:nvSpPr>
          <p:cNvPr id="27" name="Chip 80"/>
          <p:cNvSpPr/>
          <p:nvPr/>
        </p:nvSpPr>
        <p:spPr>
          <a:xfrm>
            <a:off x="9120911" y="5419197"/>
            <a:ext cx="658368"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AP-10</a:t>
            </a:r>
            <a:endParaRPr lang="en-US" sz="1100" dirty="0"/>
          </a:p>
        </p:txBody>
      </p:sp>
      <p:sp>
        <p:nvSpPr>
          <p:cNvPr id="28" name="Text 81"/>
          <p:cNvSpPr txBox="1"/>
          <p:nvPr/>
        </p:nvSpPr>
        <p:spPr>
          <a:xfrm>
            <a:off x="9889007" y="5282037"/>
            <a:ext cx="1644320" cy="548640"/>
          </a:xfrm>
          <a:prstGeom prst="rect">
            <a:avLst/>
          </a:prstGeom>
          <a:noFill/>
          <a:ln/>
        </p:spPr>
        <p:txBody>
          <a:bodyPr wrap="square" lIns="0" tIns="0" rIns="0" bIns="0" rtlCol="0" anchor="ctr"/>
          <a:lstStyle/>
          <a:p>
            <a:pPr indent="0" marL="0">
              <a:buNone/>
            </a:pPr>
            <a:r>
              <a:rPr lang="en-US" sz="1200" dirty="0">
                <a:solidFill>
                  <a:schemeClr val="tx1"/>
                </a:solidFill>
              </a:rPr>
              <a:t>Customer issues handled in chat, no shared record</a:t>
            </a:r>
            <a:endParaRPr lang="en-US" sz="1200" dirty="0"/>
          </a:p>
        </p:txBody>
      </p:sp>
      <p:sp>
        <p:nvSpPr>
          <p:cNvPr id="29" name="Text 82"/>
          <p:cNvSpPr txBox="1"/>
          <p:nvPr/>
        </p:nvSpPr>
        <p:spPr>
          <a:xfrm>
            <a:off x="548640" y="5976981"/>
            <a:ext cx="11094415" cy="274320"/>
          </a:xfrm>
          <a:prstGeom prst="rect">
            <a:avLst/>
          </a:prstGeom>
          <a:noFill/>
          <a:ln/>
        </p:spPr>
        <p:txBody>
          <a:bodyPr wrap="square" lIns="0" tIns="0" rIns="0" bIns="0" rtlCol="0" anchor="ctr"/>
          <a:lstStyle/>
          <a:p>
            <a:pPr indent="0" marL="0">
              <a:buNone/>
            </a:pPr>
            <a:r>
              <a:rPr lang="en-US" sz="1200" i="1" dirty="0">
                <a:solidFill>
                  <a:schemeClr val="accent4"/>
                </a:solidFill>
              </a:rPr>
              <a:t>8 pain points are in scope. Out of scope: AP-01 (combined PD&amp;CS role) and AP-02 (manual product research).</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Simulated order data shows the size of the peak. Problem orders are found late because there is no shared view and no rule to flag them.</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Evidence and Root Cause Analysis</a:t>
            </a:r>
            <a:endParaRPr lang="en-US" sz="3200" dirty="0"/>
          </a:p>
        </p:txBody>
      </p:sp>
      <p:graphicFrame>
        <p:nvGraphicFramePr>
          <p:cNvPr id="4" name="Weekly orders chart" descr="Column chart of simulated weekly orders, weeks 1 to 12, with peak weeks 8 to 11 highlighted"/>
          <p:cNvGraphicFramePr/>
          <p:nvPr/>
        </p:nvGraphicFramePr>
        <p:xfrm>
          <a:off x="548640" y="1463040"/>
          <a:ext cx="6675120" cy="3017520"/>
        </p:xfrm>
        <a:graphic xmlns:a="http://schemas.openxmlformats.org/drawingml/2006/main">
          <a:graphicData uri="http://schemas.openxmlformats.org/drawingml/2006/chart">
            <c:chart xmlns:c="http://schemas.openxmlformats.org/drawingml/2006/chart" r:id="rId1"/>
          </a:graphicData>
        </a:graphic>
      </p:graphicFrame>
      <p:sp>
        <p:nvSpPr>
          <p:cNvPr id="5" name="Card 83"/>
          <p:cNvSpPr/>
          <p:nvPr/>
        </p:nvSpPr>
        <p:spPr>
          <a:xfrm>
            <a:off x="548640" y="4590288"/>
            <a:ext cx="1559052" cy="914400"/>
          </a:xfrm>
          <a:prstGeom prst="roundRect">
            <a:avLst>
              <a:gd name="adj" fmla="val 8000"/>
            </a:avLst>
          </a:prstGeom>
          <a:solidFill>
            <a:schemeClr val="bg2"/>
          </a:solidFill>
          <a:ln w="12700">
            <a:solidFill>
              <a:schemeClr val="bg2"/>
            </a:solidFill>
            <a:prstDash val="solid"/>
          </a:ln>
        </p:spPr>
      </p:sp>
      <p:sp>
        <p:nvSpPr>
          <p:cNvPr id="6" name="Text 84"/>
          <p:cNvSpPr txBox="1"/>
          <p:nvPr/>
        </p:nvSpPr>
        <p:spPr>
          <a:xfrm>
            <a:off x="658368" y="4663440"/>
            <a:ext cx="1339596" cy="411480"/>
          </a:xfrm>
          <a:prstGeom prst="rect">
            <a:avLst/>
          </a:prstGeom>
          <a:noFill/>
          <a:ln/>
        </p:spPr>
        <p:txBody>
          <a:bodyPr wrap="square" lIns="0" tIns="0" rIns="0" bIns="0" rtlCol="0" anchor="ctr"/>
          <a:lstStyle/>
          <a:p>
            <a:pPr indent="0" marL="0">
              <a:buNone/>
            </a:pPr>
            <a:r>
              <a:rPr lang="en-US" sz="2000" b="1" dirty="0">
                <a:solidFill>
                  <a:schemeClr val="tx2"/>
                </a:solidFill>
              </a:rPr>
              <a:t>10,685</a:t>
            </a:r>
            <a:endParaRPr lang="en-US" sz="2000" dirty="0"/>
          </a:p>
        </p:txBody>
      </p:sp>
      <p:sp>
        <p:nvSpPr>
          <p:cNvPr id="7" name="Text 85"/>
          <p:cNvSpPr txBox="1"/>
          <p:nvPr/>
        </p:nvSpPr>
        <p:spPr>
          <a:xfrm>
            <a:off x="658368" y="5074920"/>
            <a:ext cx="1339596" cy="320040"/>
          </a:xfrm>
          <a:prstGeom prst="rect">
            <a:avLst/>
          </a:prstGeom>
          <a:noFill/>
          <a:ln/>
        </p:spPr>
        <p:txBody>
          <a:bodyPr wrap="square" lIns="0" tIns="0" rIns="0" bIns="0" rtlCol="0" anchor="ctr"/>
          <a:lstStyle/>
          <a:p>
            <a:pPr indent="0" marL="0">
              <a:buNone/>
            </a:pPr>
            <a:r>
              <a:rPr lang="en-US" sz="1100" dirty="0">
                <a:solidFill>
                  <a:schemeClr val="accent4"/>
                </a:solidFill>
              </a:rPr>
              <a:t>orders in 12 weeks</a:t>
            </a:r>
            <a:endParaRPr lang="en-US" sz="1100" dirty="0"/>
          </a:p>
        </p:txBody>
      </p:sp>
      <p:sp>
        <p:nvSpPr>
          <p:cNvPr id="8" name="Card 86"/>
          <p:cNvSpPr/>
          <p:nvPr/>
        </p:nvSpPr>
        <p:spPr>
          <a:xfrm>
            <a:off x="2253996" y="4590288"/>
            <a:ext cx="1559052" cy="914400"/>
          </a:xfrm>
          <a:prstGeom prst="roundRect">
            <a:avLst>
              <a:gd name="adj" fmla="val 8000"/>
            </a:avLst>
          </a:prstGeom>
          <a:solidFill>
            <a:schemeClr val="bg2"/>
          </a:solidFill>
          <a:ln w="12700">
            <a:solidFill>
              <a:schemeClr val="bg2"/>
            </a:solidFill>
            <a:prstDash val="solid"/>
          </a:ln>
        </p:spPr>
      </p:sp>
      <p:sp>
        <p:nvSpPr>
          <p:cNvPr id="9" name="Text 87"/>
          <p:cNvSpPr txBox="1"/>
          <p:nvPr/>
        </p:nvSpPr>
        <p:spPr>
          <a:xfrm>
            <a:off x="2363724" y="4663440"/>
            <a:ext cx="1339596" cy="411480"/>
          </a:xfrm>
          <a:prstGeom prst="rect">
            <a:avLst/>
          </a:prstGeom>
          <a:noFill/>
          <a:ln/>
        </p:spPr>
        <p:txBody>
          <a:bodyPr wrap="square" lIns="0" tIns="0" rIns="0" bIns="0" rtlCol="0" anchor="ctr"/>
          <a:lstStyle/>
          <a:p>
            <a:pPr indent="0" marL="0">
              <a:buNone/>
            </a:pPr>
            <a:r>
              <a:rPr lang="en-US" sz="2000" b="1" dirty="0">
                <a:solidFill>
                  <a:schemeClr val="tx2"/>
                </a:solidFill>
              </a:rPr>
              <a:t>7,150</a:t>
            </a:r>
            <a:endParaRPr lang="en-US" sz="2000" dirty="0"/>
          </a:p>
        </p:txBody>
      </p:sp>
      <p:sp>
        <p:nvSpPr>
          <p:cNvPr id="10" name="Text 88"/>
          <p:cNvSpPr txBox="1"/>
          <p:nvPr/>
        </p:nvSpPr>
        <p:spPr>
          <a:xfrm>
            <a:off x="2363724" y="5074920"/>
            <a:ext cx="1339596" cy="320040"/>
          </a:xfrm>
          <a:prstGeom prst="rect">
            <a:avLst/>
          </a:prstGeom>
          <a:noFill/>
          <a:ln/>
        </p:spPr>
        <p:txBody>
          <a:bodyPr wrap="square" lIns="0" tIns="0" rIns="0" bIns="0" rtlCol="0" anchor="ctr"/>
          <a:lstStyle/>
          <a:p>
            <a:pPr indent="0" marL="0">
              <a:buNone/>
            </a:pPr>
            <a:r>
              <a:rPr lang="en-US" sz="1100" dirty="0">
                <a:solidFill>
                  <a:schemeClr val="accent4"/>
                </a:solidFill>
              </a:rPr>
              <a:t>in peak weeks 8–11</a:t>
            </a:r>
            <a:endParaRPr lang="en-US" sz="1100" dirty="0"/>
          </a:p>
        </p:txBody>
      </p:sp>
      <p:sp>
        <p:nvSpPr>
          <p:cNvPr id="11" name="Card 89"/>
          <p:cNvSpPr/>
          <p:nvPr/>
        </p:nvSpPr>
        <p:spPr>
          <a:xfrm>
            <a:off x="3959352" y="4590288"/>
            <a:ext cx="1559052" cy="914400"/>
          </a:xfrm>
          <a:prstGeom prst="roundRect">
            <a:avLst>
              <a:gd name="adj" fmla="val 8000"/>
            </a:avLst>
          </a:prstGeom>
          <a:solidFill>
            <a:schemeClr val="bg2"/>
          </a:solidFill>
          <a:ln w="12700">
            <a:solidFill>
              <a:schemeClr val="bg2"/>
            </a:solidFill>
            <a:prstDash val="solid"/>
          </a:ln>
        </p:spPr>
      </p:sp>
      <p:sp>
        <p:nvSpPr>
          <p:cNvPr id="12" name="Text 90"/>
          <p:cNvSpPr txBox="1"/>
          <p:nvPr/>
        </p:nvSpPr>
        <p:spPr>
          <a:xfrm>
            <a:off x="4069080" y="4663440"/>
            <a:ext cx="1339596" cy="411480"/>
          </a:xfrm>
          <a:prstGeom prst="rect">
            <a:avLst/>
          </a:prstGeom>
          <a:noFill/>
          <a:ln/>
        </p:spPr>
        <p:txBody>
          <a:bodyPr wrap="square" lIns="0" tIns="0" rIns="0" bIns="0" rtlCol="0" anchor="ctr"/>
          <a:lstStyle/>
          <a:p>
            <a:pPr indent="0" marL="0">
              <a:buNone/>
            </a:pPr>
            <a:r>
              <a:rPr lang="en-US" sz="2000" b="1" dirty="0">
                <a:solidFill>
                  <a:schemeClr val="tx2"/>
                </a:solidFill>
              </a:rPr>
              <a:t>5.2–7.1%</a:t>
            </a:r>
            <a:endParaRPr lang="en-US" sz="2000" dirty="0"/>
          </a:p>
        </p:txBody>
      </p:sp>
      <p:sp>
        <p:nvSpPr>
          <p:cNvPr id="13" name="Text 91"/>
          <p:cNvSpPr txBox="1"/>
          <p:nvPr/>
        </p:nvSpPr>
        <p:spPr>
          <a:xfrm>
            <a:off x="4069080" y="5074920"/>
            <a:ext cx="1339596" cy="320040"/>
          </a:xfrm>
          <a:prstGeom prst="rect">
            <a:avLst/>
          </a:prstGeom>
          <a:noFill/>
          <a:ln/>
        </p:spPr>
        <p:txBody>
          <a:bodyPr wrap="square" lIns="0" tIns="0" rIns="0" bIns="0" rtlCol="0" anchor="ctr"/>
          <a:lstStyle/>
          <a:p>
            <a:pPr indent="0" marL="0">
              <a:buNone/>
            </a:pPr>
            <a:r>
              <a:rPr lang="en-US" sz="1100" dirty="0">
                <a:solidFill>
                  <a:schemeClr val="accent4"/>
                </a:solidFill>
              </a:rPr>
              <a:t>overdue, normal weeks</a:t>
            </a:r>
            <a:endParaRPr lang="en-US" sz="1100" dirty="0"/>
          </a:p>
        </p:txBody>
      </p:sp>
      <p:sp>
        <p:nvSpPr>
          <p:cNvPr id="14" name="Card 92"/>
          <p:cNvSpPr/>
          <p:nvPr/>
        </p:nvSpPr>
        <p:spPr>
          <a:xfrm>
            <a:off x="5664708" y="4590288"/>
            <a:ext cx="1559052" cy="914400"/>
          </a:xfrm>
          <a:prstGeom prst="roundRect">
            <a:avLst>
              <a:gd name="adj" fmla="val 8000"/>
            </a:avLst>
          </a:prstGeom>
          <a:solidFill>
            <a:schemeClr val="bg2"/>
          </a:solidFill>
          <a:ln w="12700">
            <a:solidFill>
              <a:schemeClr val="bg2"/>
            </a:solidFill>
            <a:prstDash val="solid"/>
          </a:ln>
        </p:spPr>
      </p:sp>
      <p:sp>
        <p:nvSpPr>
          <p:cNvPr id="15" name="Text 93"/>
          <p:cNvSpPr txBox="1"/>
          <p:nvPr/>
        </p:nvSpPr>
        <p:spPr>
          <a:xfrm>
            <a:off x="5774436" y="4663440"/>
            <a:ext cx="1339596" cy="411480"/>
          </a:xfrm>
          <a:prstGeom prst="rect">
            <a:avLst/>
          </a:prstGeom>
          <a:noFill/>
          <a:ln/>
        </p:spPr>
        <p:txBody>
          <a:bodyPr wrap="square" lIns="0" tIns="0" rIns="0" bIns="0" rtlCol="0" anchor="ctr"/>
          <a:lstStyle/>
          <a:p>
            <a:pPr indent="0" marL="0">
              <a:buNone/>
            </a:pPr>
            <a:r>
              <a:rPr lang="en-US" sz="2000" b="1" dirty="0">
                <a:solidFill>
                  <a:schemeClr val="accent2"/>
                </a:solidFill>
              </a:rPr>
              <a:t>81.0–83.7%</a:t>
            </a:r>
            <a:endParaRPr lang="en-US" sz="2000" dirty="0"/>
          </a:p>
        </p:txBody>
      </p:sp>
      <p:sp>
        <p:nvSpPr>
          <p:cNvPr id="16" name="Text 94"/>
          <p:cNvSpPr txBox="1"/>
          <p:nvPr/>
        </p:nvSpPr>
        <p:spPr>
          <a:xfrm>
            <a:off x="5774436" y="5074920"/>
            <a:ext cx="1339596" cy="320040"/>
          </a:xfrm>
          <a:prstGeom prst="rect">
            <a:avLst/>
          </a:prstGeom>
          <a:noFill/>
          <a:ln/>
        </p:spPr>
        <p:txBody>
          <a:bodyPr wrap="square" lIns="0" tIns="0" rIns="0" bIns="0" rtlCol="0" anchor="ctr"/>
          <a:lstStyle/>
          <a:p>
            <a:pPr indent="0" marL="0">
              <a:buNone/>
            </a:pPr>
            <a:r>
              <a:rPr lang="en-US" sz="1100" dirty="0">
                <a:solidFill>
                  <a:schemeClr val="accent4"/>
                </a:solidFill>
              </a:rPr>
              <a:t>overdue, peak weeks</a:t>
            </a:r>
            <a:endParaRPr lang="en-US" sz="1100" dirty="0"/>
          </a:p>
        </p:txBody>
      </p:sp>
      <p:sp>
        <p:nvSpPr>
          <p:cNvPr id="17" name="Text 95"/>
          <p:cNvSpPr txBox="1"/>
          <p:nvPr/>
        </p:nvSpPr>
        <p:spPr>
          <a:xfrm>
            <a:off x="548640" y="5614416"/>
            <a:ext cx="6675120" cy="548640"/>
          </a:xfrm>
          <a:prstGeom prst="rect">
            <a:avLst/>
          </a:prstGeom>
          <a:noFill/>
          <a:ln/>
        </p:spPr>
        <p:txBody>
          <a:bodyPr wrap="square" lIns="0" tIns="0" rIns="0" bIns="0" rtlCol="0" anchor="ctr"/>
          <a:lstStyle/>
          <a:p>
            <a:pPr indent="0" marL="0">
              <a:buNone/>
            </a:pPr>
            <a:r>
              <a:rPr lang="en-US" sz="1200" i="1" dirty="0">
                <a:solidFill>
                  <a:schemeClr val="accent4"/>
                </a:solidFill>
              </a:rPr>
              <a:t>Overdue = order-to-delivery time above 10 business days. Volume and cycle time were set as simulation inputs, so this is operational context, not causal proof.</a:t>
            </a:r>
            <a:endParaRPr lang="en-US" sz="1200" dirty="0"/>
          </a:p>
        </p:txBody>
      </p:sp>
      <p:sp>
        <p:nvSpPr>
          <p:cNvPr id="18" name="Text 96"/>
          <p:cNvSpPr txBox="1"/>
          <p:nvPr/>
        </p:nvSpPr>
        <p:spPr>
          <a:xfrm>
            <a:off x="7543800" y="1463040"/>
            <a:ext cx="4099255" cy="365760"/>
          </a:xfrm>
          <a:prstGeom prst="rect">
            <a:avLst/>
          </a:prstGeom>
          <a:noFill/>
          <a:ln/>
        </p:spPr>
        <p:txBody>
          <a:bodyPr wrap="square" lIns="0" tIns="0" rIns="0" bIns="0" rtlCol="0" anchor="ctr"/>
          <a:lstStyle/>
          <a:p>
            <a:pPr indent="0" marL="0">
              <a:buNone/>
            </a:pPr>
            <a:r>
              <a:rPr lang="en-US" sz="1800" b="1" dirty="0">
                <a:solidFill>
                  <a:schemeClr val="tx2"/>
                </a:solidFill>
              </a:rPr>
              <a:t>Root cause analysis: AP-08</a:t>
            </a:r>
            <a:endParaRPr lang="en-US" sz="1800" dirty="0"/>
          </a:p>
        </p:txBody>
      </p:sp>
      <p:sp>
        <p:nvSpPr>
          <p:cNvPr id="19" name="Card 97"/>
          <p:cNvSpPr/>
          <p:nvPr/>
        </p:nvSpPr>
        <p:spPr>
          <a:xfrm>
            <a:off x="7543800" y="1920240"/>
            <a:ext cx="4099255" cy="868680"/>
          </a:xfrm>
          <a:prstGeom prst="roundRect">
            <a:avLst>
              <a:gd name="adj" fmla="val 8421"/>
            </a:avLst>
          </a:prstGeom>
          <a:solidFill>
            <a:schemeClr val="accent2">
              <a:alpha val="14000"/>
            </a:schemeClr>
          </a:solidFill>
          <a:ln w="12700">
            <a:solidFill>
              <a:schemeClr val="accent2">
                <a:alpha val="0"/>
              </a:schemeClr>
            </a:solidFill>
            <a:prstDash val="solid"/>
          </a:ln>
        </p:spPr>
      </p:sp>
      <p:sp>
        <p:nvSpPr>
          <p:cNvPr id="20" name="Text 98"/>
          <p:cNvSpPr txBox="1"/>
          <p:nvPr/>
        </p:nvSpPr>
        <p:spPr>
          <a:xfrm>
            <a:off x="7726680" y="1965960"/>
            <a:ext cx="3733495" cy="777240"/>
          </a:xfrm>
          <a:prstGeom prst="rect">
            <a:avLst/>
          </a:prstGeom>
          <a:noFill/>
          <a:ln/>
        </p:spPr>
        <p:txBody>
          <a:bodyPr wrap="square" lIns="0" tIns="0" rIns="0" bIns="0" rtlCol="0" anchor="ctr"/>
          <a:lstStyle/>
          <a:p>
            <a:pPr indent="0" marL="0">
              <a:buNone/>
            </a:pPr>
            <a:r>
              <a:rPr lang="en-US" sz="1300" b="1" dirty="0">
                <a:solidFill>
                  <a:schemeClr val="accent2"/>
                </a:solidFill>
              </a:rPr>
              <a:t>Problem  </a:t>
            </a:r>
            <a:pPr indent="0" marL="0">
              <a:buNone/>
            </a:pPr>
            <a:r>
              <a:rPr lang="en-US" sz="1300" dirty="0">
                <a:solidFill>
                  <a:schemeClr val="tx1"/>
                </a:solidFill>
              </a:rPr>
              <a:t>Stuck or late order lines are identified late, often only after a customer complains.</a:t>
            </a:r>
            <a:endParaRPr lang="en-US" sz="1300" dirty="0"/>
          </a:p>
        </p:txBody>
      </p:sp>
      <p:sp>
        <p:nvSpPr>
          <p:cNvPr id="21" name="Step number 99"/>
          <p:cNvSpPr/>
          <p:nvPr/>
        </p:nvSpPr>
        <p:spPr>
          <a:xfrm>
            <a:off x="7543800" y="2980944"/>
            <a:ext cx="329184" cy="329184"/>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2" name="Text 100"/>
          <p:cNvSpPr txBox="1"/>
          <p:nvPr/>
        </p:nvSpPr>
        <p:spPr>
          <a:xfrm>
            <a:off x="8001000" y="2926080"/>
            <a:ext cx="3642055" cy="438912"/>
          </a:xfrm>
          <a:prstGeom prst="rect">
            <a:avLst/>
          </a:prstGeom>
          <a:noFill/>
          <a:ln/>
        </p:spPr>
        <p:txBody>
          <a:bodyPr wrap="square" lIns="0" tIns="0" rIns="0" bIns="0" rtlCol="0" anchor="ctr"/>
          <a:lstStyle/>
          <a:p>
            <a:pPr indent="0" marL="0">
              <a:buNone/>
            </a:pPr>
            <a:r>
              <a:rPr lang="en-US" sz="1300" dirty="0">
                <a:solidFill>
                  <a:schemeClr val="tx1"/>
                </a:solidFill>
              </a:rPr>
              <a:t>Staff check orders one by one across supplier systems.</a:t>
            </a:r>
            <a:endParaRPr lang="en-US" sz="1300" dirty="0"/>
          </a:p>
        </p:txBody>
      </p:sp>
      <p:sp>
        <p:nvSpPr>
          <p:cNvPr id="23" name="Step number 101"/>
          <p:cNvSpPr/>
          <p:nvPr/>
        </p:nvSpPr>
        <p:spPr>
          <a:xfrm>
            <a:off x="7543800" y="3511296"/>
            <a:ext cx="329184" cy="329184"/>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4" name="Text 102"/>
          <p:cNvSpPr txBox="1"/>
          <p:nvPr/>
        </p:nvSpPr>
        <p:spPr>
          <a:xfrm>
            <a:off x="8001000" y="3456432"/>
            <a:ext cx="3642055" cy="438912"/>
          </a:xfrm>
          <a:prstGeom prst="rect">
            <a:avLst/>
          </a:prstGeom>
          <a:noFill/>
          <a:ln/>
        </p:spPr>
        <p:txBody>
          <a:bodyPr wrap="square" lIns="0" tIns="0" rIns="0" bIns="0" rtlCol="0" anchor="ctr"/>
          <a:lstStyle/>
          <a:p>
            <a:pPr indent="0" marL="0">
              <a:buNone/>
            </a:pPr>
            <a:r>
              <a:rPr lang="en-US" sz="1300" dirty="0">
                <a:solidFill>
                  <a:schemeClr val="tx1"/>
                </a:solidFill>
              </a:rPr>
              <a:t>Status information is spread across Etsy, supplier systems and spreadsheets.</a:t>
            </a:r>
            <a:endParaRPr lang="en-US" sz="1300" dirty="0"/>
          </a:p>
        </p:txBody>
      </p:sp>
      <p:sp>
        <p:nvSpPr>
          <p:cNvPr id="25" name="Step number 103"/>
          <p:cNvSpPr/>
          <p:nvPr/>
        </p:nvSpPr>
        <p:spPr>
          <a:xfrm>
            <a:off x="7543800" y="4041648"/>
            <a:ext cx="329184" cy="329184"/>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6" name="Text 104"/>
          <p:cNvSpPr txBox="1"/>
          <p:nvPr/>
        </p:nvSpPr>
        <p:spPr>
          <a:xfrm>
            <a:off x="8001000" y="3986784"/>
            <a:ext cx="3642055" cy="438912"/>
          </a:xfrm>
          <a:prstGeom prst="rect">
            <a:avLst/>
          </a:prstGeom>
          <a:noFill/>
          <a:ln/>
        </p:spPr>
        <p:txBody>
          <a:bodyPr wrap="square" lIns="0" tIns="0" rIns="0" bIns="0" rtlCol="0" anchor="ctr"/>
          <a:lstStyle/>
          <a:p>
            <a:pPr indent="0" marL="0">
              <a:buNone/>
            </a:pPr>
            <a:r>
              <a:rPr lang="en-US" sz="1300" dirty="0">
                <a:solidFill>
                  <a:schemeClr val="tx1"/>
                </a:solidFill>
              </a:rPr>
              <a:t>There is no shared order-status view and no exception mechanism.</a:t>
            </a:r>
            <a:endParaRPr lang="en-US" sz="1300" dirty="0"/>
          </a:p>
        </p:txBody>
      </p:sp>
      <p:sp>
        <p:nvSpPr>
          <p:cNvPr id="27" name="Card 105"/>
          <p:cNvSpPr/>
          <p:nvPr/>
        </p:nvSpPr>
        <p:spPr>
          <a:xfrm>
            <a:off x="7543800" y="4553712"/>
            <a:ext cx="4099255" cy="777240"/>
          </a:xfrm>
          <a:prstGeom prst="roundRect">
            <a:avLst>
              <a:gd name="adj" fmla="val 9412"/>
            </a:avLst>
          </a:prstGeom>
          <a:solidFill>
            <a:schemeClr val="accent6"/>
          </a:solidFill>
          <a:ln w="12700">
            <a:solidFill>
              <a:schemeClr val="accent6"/>
            </a:solidFill>
            <a:prstDash val="solid"/>
          </a:ln>
        </p:spPr>
      </p:sp>
      <p:sp>
        <p:nvSpPr>
          <p:cNvPr id="28" name="Text 106"/>
          <p:cNvSpPr txBox="1"/>
          <p:nvPr/>
        </p:nvSpPr>
        <p:spPr>
          <a:xfrm>
            <a:off x="7726680" y="4590288"/>
            <a:ext cx="3733495" cy="704088"/>
          </a:xfrm>
          <a:prstGeom prst="rect">
            <a:avLst/>
          </a:prstGeom>
          <a:noFill/>
          <a:ln/>
        </p:spPr>
        <p:txBody>
          <a:bodyPr wrap="square" lIns="0" tIns="0" rIns="0" bIns="0" rtlCol="0" anchor="ctr"/>
          <a:lstStyle/>
          <a:p>
            <a:pPr indent="0" marL="0">
              <a:buNone/>
            </a:pPr>
            <a:r>
              <a:rPr lang="en-US" sz="1300" b="1" dirty="0">
                <a:solidFill>
                  <a:schemeClr val="tx2"/>
                </a:solidFill>
              </a:rPr>
              <a:t>Main process gap  </a:t>
            </a:r>
            <a:pPr indent="0" marL="0">
              <a:buNone/>
            </a:pPr>
            <a:r>
              <a:rPr lang="en-US" sz="1300" dirty="0">
                <a:solidFill>
                  <a:schemeClr val="tx1"/>
                </a:solidFill>
              </a:rPr>
              <a:t>No shared view and no rule that flags lines needing action.</a:t>
            </a:r>
            <a:endParaRPr lang="en-US" sz="1300" dirty="0"/>
          </a:p>
          <a:p>
            <a:pPr indent="0" marL="0">
              <a:buNone/>
            </a:pPr>
            <a:r>
              <a:rPr lang="en-US" sz="1300" dirty="0">
                <a:solidFill>
                  <a:schemeClr val="tx1"/>
                </a:solidFill>
              </a:rPr>
              <a:t>Addressed by BR-01 and BR-04.</a:t>
            </a:r>
            <a:endParaRPr lang="en-US" sz="1300" dirty="0"/>
          </a:p>
        </p:txBody>
      </p:sp>
      <p:sp>
        <p:nvSpPr>
          <p:cNvPr id="29" name="Card 107"/>
          <p:cNvSpPr/>
          <p:nvPr/>
        </p:nvSpPr>
        <p:spPr>
          <a:xfrm>
            <a:off x="7543800" y="5440680"/>
            <a:ext cx="4099255" cy="731520"/>
          </a:xfrm>
          <a:prstGeom prst="roundRect">
            <a:avLst>
              <a:gd name="adj" fmla="val 10000"/>
            </a:avLst>
          </a:prstGeom>
          <a:solidFill>
            <a:schemeClr val="bg1"/>
          </a:solidFill>
          <a:ln w="12700">
            <a:solidFill>
              <a:schemeClr val="accent4"/>
            </a:solidFill>
            <a:prstDash val="dash"/>
          </a:ln>
        </p:spPr>
      </p:sp>
      <p:sp>
        <p:nvSpPr>
          <p:cNvPr id="30" name="Text 108"/>
          <p:cNvSpPr txBox="1"/>
          <p:nvPr/>
        </p:nvSpPr>
        <p:spPr>
          <a:xfrm>
            <a:off x="7726680" y="5468112"/>
            <a:ext cx="3733495" cy="676656"/>
          </a:xfrm>
          <a:prstGeom prst="rect">
            <a:avLst/>
          </a:prstGeom>
          <a:noFill/>
          <a:ln/>
        </p:spPr>
        <p:txBody>
          <a:bodyPr wrap="square" lIns="0" tIns="0" rIns="0" bIns="0" rtlCol="0" anchor="ctr"/>
          <a:lstStyle/>
          <a:p>
            <a:pPr indent="0" marL="0">
              <a:buNone/>
            </a:pPr>
            <a:r>
              <a:rPr lang="en-US" sz="1300" b="1" dirty="0">
                <a:solidFill>
                  <a:schemeClr val="accent4"/>
                </a:solidFill>
              </a:rPr>
              <a:t>Working hypothesis  </a:t>
            </a:r>
            <a:pPr indent="0" marL="0">
              <a:buNone/>
            </a:pPr>
            <a:r>
              <a:rPr lang="en-US" sz="1300" dirty="0">
                <a:solidFill>
                  <a:schemeClr val="tx1"/>
                </a:solidFill>
              </a:rPr>
              <a:t>Manual work per order may make peak workload hard to manage. Tested in the pilot.</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Each pain point in scope is covered by a business requirement.</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Business Objectives and Requirements</a:t>
            </a:r>
            <a:endParaRPr lang="en-US" sz="3200" dirty="0"/>
          </a:p>
        </p:txBody>
      </p:sp>
      <p:graphicFrame>
        <p:nvGraphicFramePr>
          <p:cNvPr id="6" name="Business requirements table"/>
          <p:cNvGraphicFramePr>
            <a:graphicFrameLocks noGrp="1"/>
          </p:cNvGraphicFramePr>
          <p:nvPr>
            <p:extLst>
              <p:ext uri="{D42A27DB-BD31-4B8C-83A1-F6EECF244321}">
                <p14:modId xmlns:p14="http://schemas.microsoft.com/office/powerpoint/2010/main" val="1579011935"/>
              </p:ext>
            </p:extLst>
          </p:nvPr>
        </p:nvGraphicFramePr>
        <p:xfrm>
          <a:off x="548640" y="1554480"/>
          <a:ext cx="7086600" cy="914400"/>
        </p:xfrm>
        <a:graphic>
          <a:graphicData uri="http://schemas.openxmlformats.org/drawingml/2006/table">
            <a:tbl>
              <a:tblPr/>
              <a:tblGrid>
                <a:gridCol w="822960"/>
                <a:gridCol w="4160520"/>
                <a:gridCol w="1234440"/>
                <a:gridCol w="868680"/>
              </a:tblGrid>
              <a:tr h="384048">
                <a:tc>
                  <a:txBody>
                    <a:bodyPr/>
                    <a:lstStyle/>
                    <a:p>
                      <a:pPr indent="0" marL="0">
                        <a:buNone/>
                      </a:pPr>
                      <a:r>
                        <a:rPr lang="en-US" sz="1200" b="1" dirty="0">
                          <a:solidFill>
                            <a:schemeClr val="tx2"/>
                          </a:solidFill>
                        </a:rPr>
                        <a:t>ID</a:t>
                      </a:r>
                      <a:endParaRPr lang="en-US" sz="12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2"/>
                          </a:solidFill>
                        </a:rPr>
                        <a:t>Business requirement</a:t>
                      </a:r>
                      <a:endParaRPr lang="en-US" sz="12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2"/>
                          </a:solidFill>
                        </a:rPr>
                        <a:t>Pain point</a:t>
                      </a:r>
                      <a:endParaRPr lang="en-US" sz="12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2"/>
                          </a:solidFill>
                        </a:rPr>
                        <a:t>Priority</a:t>
                      </a:r>
                      <a:endParaRPr lang="en-US" sz="12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r>
              <a:tr h="576072">
                <a:tc>
                  <a:txBody>
                    <a:bodyPr/>
                    <a:lstStyle/>
                    <a:p>
                      <a:pPr indent="0" marL="0">
                        <a:buNone/>
                      </a:pPr>
                      <a:r>
                        <a:rPr lang="en-US" sz="1300" b="1" dirty="0">
                          <a:solidFill>
                            <a:schemeClr val="accent1"/>
                          </a:solidFill>
                        </a:rPr>
                        <a:t>BR-01</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One shared workspace for order, supplier and issue information</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AP-03</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Must</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r>
              <a:tr h="576072">
                <a:tc>
                  <a:txBody>
                    <a:bodyPr/>
                    <a:lstStyle/>
                    <a:p>
                      <a:pPr indent="0" marL="0">
                        <a:buNone/>
                      </a:pPr>
                      <a:r>
                        <a:rPr lang="en-US" sz="1300" b="1" dirty="0">
                          <a:solidFill>
                            <a:schemeClr val="accent1"/>
                          </a:solidFill>
                        </a:rPr>
                        <a:t>BR-02</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 shared Product Type-to-supplier mapping, so no supplier is chosen by hand</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AP-04</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Must</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r>
              <a:tr h="576072">
                <a:tc>
                  <a:txBody>
                    <a:bodyPr/>
                    <a:lstStyle/>
                    <a:p>
                      <a:pPr indent="0" marL="0">
                        <a:buNone/>
                      </a:pPr>
                      <a:r>
                        <a:rPr lang="en-US" sz="1300" b="1" dirty="0">
                          <a:solidFill>
                            <a:schemeClr val="accent1"/>
                          </a:solidFill>
                        </a:rPr>
                        <a:t>BR-03</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Complete orders sent to suppliers without retyping, with validation</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AP-05</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Must</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r>
              <a:tr h="576072">
                <a:tc>
                  <a:txBody>
                    <a:bodyPr/>
                    <a:lstStyle/>
                    <a:p>
                      <a:pPr indent="0" marL="0">
                        <a:buNone/>
                      </a:pPr>
                      <a:r>
                        <a:rPr lang="en-US" sz="1300" b="1" dirty="0">
                          <a:solidFill>
                            <a:schemeClr val="accent1"/>
                          </a:solidFill>
                        </a:rPr>
                        <a:t>BR-04</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Order lines monitored through an exception queue based on status, expected time, ship-by date and events</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AP-06, AP-08</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300" b="1" dirty="0">
                          <a:solidFill>
                            <a:schemeClr val="tx2"/>
                          </a:solidFill>
                        </a:rPr>
                        <a:t>Must</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r>
              <a:tr h="576072">
                <a:tc>
                  <a:txBody>
                    <a:bodyPr/>
                    <a:lstStyle/>
                    <a:p>
                      <a:pPr indent="0" marL="0">
                        <a:buNone/>
                      </a:pPr>
                      <a:r>
                        <a:rPr lang="en-US" sz="1300" b="1" dirty="0">
                          <a:solidFill>
                            <a:schemeClr val="accent1"/>
                          </a:solidFill>
                        </a:rPr>
                        <a:t>BR-05</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Tracking numbers sent to Etsy without manual copying</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AP-07</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tx2"/>
                          </a:solidFill>
                        </a:rPr>
                        <a:t>Must</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r>
              <a:tr h="576072">
                <a:tc>
                  <a:txBody>
                    <a:bodyPr/>
                    <a:lstStyle/>
                    <a:p>
                      <a:pPr indent="0" marL="0">
                        <a:buNone/>
                      </a:pPr>
                      <a:r>
                        <a:rPr lang="en-US" sz="1300" b="1" dirty="0">
                          <a:solidFill>
                            <a:schemeClr val="accent1"/>
                          </a:solidFill>
                        </a:rPr>
                        <a:t>BR-06</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Current operational figures without a manual weekly report</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2"/>
                          </a:solidFill>
                        </a:rPr>
                        <a:t>AP-09</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4"/>
                          </a:solidFill>
                        </a:rPr>
                        <a:t>Should</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r>
              <a:tr h="576072">
                <a:tc>
                  <a:txBody>
                    <a:bodyPr/>
                    <a:lstStyle/>
                    <a:p>
                      <a:pPr indent="0" marL="0">
                        <a:buNone/>
                      </a:pPr>
                      <a:r>
                        <a:rPr lang="en-US" sz="1300" b="1" dirty="0">
                          <a:solidFill>
                            <a:schemeClr val="accent1"/>
                          </a:solidFill>
                        </a:rPr>
                        <a:t>BR-07</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Every customer issue recorded as a case with cause, owner, status and result</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2"/>
                          </a:solidFill>
                        </a:rPr>
                        <a:t>AP-10</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300" dirty="0">
                          <a:solidFill>
                            <a:schemeClr val="accent4"/>
                          </a:solidFill>
                        </a:rPr>
                        <a:t>Should</a:t>
                      </a:r>
                      <a:endParaRPr lang="en-US" sz="1300" dirty="0"/>
                    </a:p>
                  </a:txBody>
                  <a:tcPr marL="91440" marR="91440" marT="36576" marB="36576"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r>
            </a:tbl>
          </a:graphicData>
        </a:graphic>
      </p:graphicFrame>
      <p:sp>
        <p:nvSpPr>
          <p:cNvPr id="5" name="Text 109"/>
          <p:cNvSpPr txBox="1"/>
          <p:nvPr/>
        </p:nvSpPr>
        <p:spPr>
          <a:xfrm>
            <a:off x="548640" y="6035040"/>
            <a:ext cx="7086600" cy="228600"/>
          </a:xfrm>
          <a:prstGeom prst="rect">
            <a:avLst/>
          </a:prstGeom>
          <a:noFill/>
          <a:ln/>
        </p:spPr>
        <p:txBody>
          <a:bodyPr wrap="square" lIns="0" tIns="0" rIns="0" bIns="0" rtlCol="0" anchor="ctr"/>
          <a:lstStyle/>
          <a:p>
            <a:pPr indent="0" marL="0">
              <a:buNone/>
            </a:pPr>
            <a:r>
              <a:rPr lang="en-US" sz="1100" i="1" dirty="0">
                <a:solidFill>
                  <a:schemeClr val="accent4"/>
                </a:solidFill>
              </a:rPr>
              <a:t>Must = minimum useful scope (releases R0–R2). Should = delivered in R3 or R4.</a:t>
            </a:r>
            <a:endParaRPr lang="en-US" sz="1100" dirty="0"/>
          </a:p>
        </p:txBody>
      </p:sp>
      <p:sp>
        <p:nvSpPr>
          <p:cNvPr id="6" name="Card 110"/>
          <p:cNvSpPr/>
          <p:nvPr/>
        </p:nvSpPr>
        <p:spPr>
          <a:xfrm>
            <a:off x="7955280" y="1554480"/>
            <a:ext cx="3687775" cy="2331720"/>
          </a:xfrm>
          <a:prstGeom prst="roundRect">
            <a:avLst>
              <a:gd name="adj" fmla="val 3137"/>
            </a:avLst>
          </a:prstGeom>
          <a:solidFill>
            <a:schemeClr val="bg2"/>
          </a:solidFill>
          <a:ln w="12700">
            <a:solidFill>
              <a:schemeClr val="bg2"/>
            </a:solidFill>
            <a:prstDash val="solid"/>
          </a:ln>
        </p:spPr>
      </p:sp>
      <p:sp>
        <p:nvSpPr>
          <p:cNvPr id="7" name="Text 111"/>
          <p:cNvSpPr txBox="1"/>
          <p:nvPr/>
        </p:nvSpPr>
        <p:spPr>
          <a:xfrm>
            <a:off x="8156448" y="1645920"/>
            <a:ext cx="3285439" cy="320040"/>
          </a:xfrm>
          <a:prstGeom prst="rect">
            <a:avLst/>
          </a:prstGeom>
          <a:noFill/>
          <a:ln/>
        </p:spPr>
        <p:txBody>
          <a:bodyPr wrap="square" lIns="0" tIns="0" rIns="0" bIns="0" rtlCol="0" anchor="ctr"/>
          <a:lstStyle/>
          <a:p>
            <a:pPr indent="0" marL="0">
              <a:buNone/>
            </a:pPr>
            <a:r>
              <a:rPr lang="en-US" sz="1600" b="1" dirty="0">
                <a:solidFill>
                  <a:schemeClr val="tx2"/>
                </a:solidFill>
              </a:rPr>
              <a:t>Direct objectives</a:t>
            </a:r>
            <a:endParaRPr lang="en-US" sz="1600" dirty="0"/>
          </a:p>
        </p:txBody>
      </p:sp>
      <p:sp>
        <p:nvSpPr>
          <p:cNvPr id="8" name="Objective number 112"/>
          <p:cNvSpPr/>
          <p:nvPr/>
        </p:nvSpPr>
        <p:spPr>
          <a:xfrm>
            <a:off x="8156448" y="2084832"/>
            <a:ext cx="292608" cy="29260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9" name="Text 113"/>
          <p:cNvSpPr txBox="1"/>
          <p:nvPr/>
        </p:nvSpPr>
        <p:spPr>
          <a:xfrm>
            <a:off x="8558784" y="2057400"/>
            <a:ext cx="2883103" cy="347472"/>
          </a:xfrm>
          <a:prstGeom prst="rect">
            <a:avLst/>
          </a:prstGeom>
          <a:noFill/>
          <a:ln/>
        </p:spPr>
        <p:txBody>
          <a:bodyPr wrap="square" lIns="0" tIns="0" rIns="0" bIns="0" rtlCol="0" anchor="ctr"/>
          <a:lstStyle/>
          <a:p>
            <a:pPr indent="0" marL="0">
              <a:buNone/>
            </a:pPr>
            <a:r>
              <a:rPr lang="en-US" sz="1300" dirty="0">
                <a:solidFill>
                  <a:schemeClr val="tx1"/>
                </a:solidFill>
              </a:rPr>
              <a:t>Reduce repetitive internal order work</a:t>
            </a:r>
            <a:endParaRPr lang="en-US" sz="1300" dirty="0"/>
          </a:p>
        </p:txBody>
      </p:sp>
      <p:sp>
        <p:nvSpPr>
          <p:cNvPr id="10" name="Objective number 114"/>
          <p:cNvSpPr/>
          <p:nvPr/>
        </p:nvSpPr>
        <p:spPr>
          <a:xfrm>
            <a:off x="8156448" y="2487168"/>
            <a:ext cx="292608" cy="29260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 115"/>
          <p:cNvSpPr txBox="1"/>
          <p:nvPr/>
        </p:nvSpPr>
        <p:spPr>
          <a:xfrm>
            <a:off x="8558784" y="2459736"/>
            <a:ext cx="2883103" cy="347472"/>
          </a:xfrm>
          <a:prstGeom prst="rect">
            <a:avLst/>
          </a:prstGeom>
          <a:noFill/>
          <a:ln/>
        </p:spPr>
        <p:txBody>
          <a:bodyPr wrap="square" lIns="0" tIns="0" rIns="0" bIns="0" rtlCol="0" anchor="ctr"/>
          <a:lstStyle/>
          <a:p>
            <a:pPr indent="0" marL="0">
              <a:buNone/>
            </a:pPr>
            <a:r>
              <a:rPr lang="en-US" sz="1300" dirty="0">
                <a:solidFill>
                  <a:schemeClr val="tx1"/>
                </a:solidFill>
              </a:rPr>
              <a:t>Detect and handle order exceptions earlier</a:t>
            </a:r>
            <a:endParaRPr lang="en-US" sz="1300" dirty="0"/>
          </a:p>
        </p:txBody>
      </p:sp>
      <p:sp>
        <p:nvSpPr>
          <p:cNvPr id="12" name="Objective number 116"/>
          <p:cNvSpPr/>
          <p:nvPr/>
        </p:nvSpPr>
        <p:spPr>
          <a:xfrm>
            <a:off x="8156448" y="2889504"/>
            <a:ext cx="292608" cy="292608"/>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3" name="Text 117"/>
          <p:cNvSpPr txBox="1"/>
          <p:nvPr/>
        </p:nvSpPr>
        <p:spPr>
          <a:xfrm>
            <a:off x="8558784" y="2862072"/>
            <a:ext cx="2883103" cy="347472"/>
          </a:xfrm>
          <a:prstGeom prst="rect">
            <a:avLst/>
          </a:prstGeom>
          <a:noFill/>
          <a:ln/>
        </p:spPr>
        <p:txBody>
          <a:bodyPr wrap="square" lIns="0" tIns="0" rIns="0" bIns="0" rtlCol="0" anchor="ctr"/>
          <a:lstStyle/>
          <a:p>
            <a:pPr indent="0" marL="0">
              <a:buNone/>
            </a:pPr>
            <a:r>
              <a:rPr lang="en-US" sz="1300" dirty="0">
                <a:solidFill>
                  <a:schemeClr val="tx1"/>
                </a:solidFill>
              </a:rPr>
              <a:t>Improve operational visibility</a:t>
            </a:r>
            <a:endParaRPr lang="en-US" sz="1300" dirty="0"/>
          </a:p>
        </p:txBody>
      </p:sp>
      <p:sp>
        <p:nvSpPr>
          <p:cNvPr id="14" name="Text 118"/>
          <p:cNvSpPr txBox="1"/>
          <p:nvPr/>
        </p:nvSpPr>
        <p:spPr>
          <a:xfrm>
            <a:off x="8156448" y="3291840"/>
            <a:ext cx="3285439" cy="502920"/>
          </a:xfrm>
          <a:prstGeom prst="rect">
            <a:avLst/>
          </a:prstGeom>
          <a:noFill/>
          <a:ln/>
        </p:spPr>
        <p:txBody>
          <a:bodyPr wrap="square" lIns="0" tIns="0" rIns="0" bIns="0" rtlCol="0" anchor="ctr"/>
          <a:lstStyle/>
          <a:p>
            <a:pPr indent="0" marL="0">
              <a:buNone/>
            </a:pPr>
            <a:r>
              <a:rPr lang="en-US" sz="1200" i="1" dirty="0">
                <a:solidFill>
                  <a:schemeClr val="accent4"/>
                </a:solidFill>
              </a:rPr>
              <a:t>Intended outcome: fewer avoidable late orders. Tracked as an outcome, not proven yet.</a:t>
            </a:r>
            <a:endParaRPr lang="en-US" sz="1200" dirty="0"/>
          </a:p>
        </p:txBody>
      </p:sp>
      <p:sp>
        <p:nvSpPr>
          <p:cNvPr id="15" name="Card 119"/>
          <p:cNvSpPr/>
          <p:nvPr/>
        </p:nvSpPr>
        <p:spPr>
          <a:xfrm>
            <a:off x="7955280" y="4023360"/>
            <a:ext cx="3687775" cy="1097280"/>
          </a:xfrm>
          <a:prstGeom prst="roundRect">
            <a:avLst>
              <a:gd name="adj" fmla="val 6667"/>
            </a:avLst>
          </a:prstGeom>
          <a:solidFill>
            <a:schemeClr val="accent6"/>
          </a:solidFill>
          <a:ln w="12700">
            <a:solidFill>
              <a:schemeClr val="accent6"/>
            </a:solidFill>
            <a:prstDash val="solid"/>
          </a:ln>
        </p:spPr>
      </p:sp>
      <p:sp>
        <p:nvSpPr>
          <p:cNvPr id="16" name="Text 120"/>
          <p:cNvSpPr txBox="1"/>
          <p:nvPr/>
        </p:nvSpPr>
        <p:spPr>
          <a:xfrm>
            <a:off x="8156448" y="4078224"/>
            <a:ext cx="3285439" cy="987552"/>
          </a:xfrm>
          <a:prstGeom prst="rect">
            <a:avLst/>
          </a:prstGeom>
          <a:noFill/>
          <a:ln/>
        </p:spPr>
        <p:txBody>
          <a:bodyPr wrap="square" lIns="0" tIns="0" rIns="0" bIns="0" rtlCol="0" anchor="ctr"/>
          <a:lstStyle/>
          <a:p>
            <a:pPr indent="0" marL="0">
              <a:buNone/>
            </a:pPr>
            <a:r>
              <a:rPr lang="en-US" sz="1300" b="1" dirty="0">
                <a:solidFill>
                  <a:schemeClr val="tx2"/>
                </a:solidFill>
              </a:rPr>
              <a:t>If only two things can be built first</a:t>
            </a:r>
            <a:endParaRPr lang="en-US" sz="1300" dirty="0"/>
          </a:p>
          <a:p>
            <a:pPr indent="0" marL="0">
              <a:buNone/>
            </a:pPr>
            <a:r>
              <a:rPr lang="en-US" sz="1300" dirty="0">
                <a:solidFill>
                  <a:schemeClr val="tx1"/>
                </a:solidFill>
              </a:rPr>
              <a:t>BR-01 + BR-04: one shared place for information, and one queue of the order lines that need action.</a:t>
            </a:r>
            <a:endParaRPr lang="en-US" sz="1300" dirty="0"/>
          </a:p>
        </p:txBody>
      </p:sp>
      <p:sp>
        <p:nvSpPr>
          <p:cNvPr id="17" name="Card 121"/>
          <p:cNvSpPr/>
          <p:nvPr/>
        </p:nvSpPr>
        <p:spPr>
          <a:xfrm>
            <a:off x="7955280" y="5257800"/>
            <a:ext cx="3687775" cy="914400"/>
          </a:xfrm>
          <a:prstGeom prst="roundRect">
            <a:avLst>
              <a:gd name="adj" fmla="val 8000"/>
            </a:avLst>
          </a:prstGeom>
          <a:solidFill>
            <a:schemeClr val="bg1"/>
          </a:solidFill>
          <a:ln w="12700">
            <a:solidFill>
              <a:schemeClr val="accent4"/>
            </a:solidFill>
            <a:prstDash val="dash"/>
          </a:ln>
        </p:spPr>
      </p:sp>
      <p:sp>
        <p:nvSpPr>
          <p:cNvPr id="18" name="Text 122"/>
          <p:cNvSpPr txBox="1"/>
          <p:nvPr/>
        </p:nvSpPr>
        <p:spPr>
          <a:xfrm>
            <a:off x="8156448" y="5303520"/>
            <a:ext cx="3285439" cy="822960"/>
          </a:xfrm>
          <a:prstGeom prst="rect">
            <a:avLst/>
          </a:prstGeom>
          <a:noFill/>
          <a:ln/>
        </p:spPr>
        <p:txBody>
          <a:bodyPr wrap="square" lIns="0" tIns="0" rIns="0" bIns="0" rtlCol="0" anchor="ctr"/>
          <a:lstStyle/>
          <a:p>
            <a:pPr indent="0" marL="0">
              <a:buNone/>
            </a:pPr>
            <a:r>
              <a:rPr lang="en-US" sz="1200" b="1" dirty="0">
                <a:solidFill>
                  <a:schemeClr val="tx2"/>
                </a:solidFill>
              </a:rPr>
              <a:t>Out of scope  </a:t>
            </a:r>
            <a:pPr indent="0" marL="0">
              <a:buNone/>
            </a:pPr>
            <a:r>
              <a:rPr lang="en-US" sz="1200" dirty="0">
                <a:solidFill>
                  <a:schemeClr val="accent4"/>
                </a:solidFill>
              </a:rPr>
              <a:t>Product research and listing, separating the PD&amp;CS role, automatic re-routing between suppliers, carrier delays.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Five options were scored against eight criteria. Lark scored highest.</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Solution Evaluation and Selection</a:t>
            </a:r>
            <a:endParaRPr lang="en-US" sz="3200" dirty="0"/>
          </a:p>
        </p:txBody>
      </p:sp>
      <p:graphicFrame>
        <p:nvGraphicFramePr>
          <p:cNvPr id="4" name="Solution options score chart" descr="Bar chart of weighted scores: Lark 50, Airtable stack 43, custom web app 40, Notion stack 35, better spreadsheets 28"/>
          <p:cNvGraphicFramePr/>
          <p:nvPr/>
        </p:nvGraphicFramePr>
        <p:xfrm>
          <a:off x="548640" y="1463040"/>
          <a:ext cx="5669280" cy="3749040"/>
        </p:xfrm>
        <a:graphic xmlns:a="http://schemas.openxmlformats.org/drawingml/2006/main">
          <a:graphicData uri="http://schemas.openxmlformats.org/drawingml/2006/chart">
            <c:chart xmlns:c="http://schemas.openxmlformats.org/drawingml/2006/chart" r:id="rId1"/>
          </a:graphicData>
        </a:graphic>
      </p:graphicFrame>
      <p:sp>
        <p:nvSpPr>
          <p:cNvPr id="5" name="Text 123"/>
          <p:cNvSpPr txBox="1"/>
          <p:nvPr/>
        </p:nvSpPr>
        <p:spPr>
          <a:xfrm>
            <a:off x="548640" y="5303520"/>
            <a:ext cx="5669280" cy="868680"/>
          </a:xfrm>
          <a:prstGeom prst="rect">
            <a:avLst/>
          </a:prstGeom>
          <a:noFill/>
          <a:ln/>
        </p:spPr>
        <p:txBody>
          <a:bodyPr wrap="square" lIns="0" tIns="0" rIns="0" bIns="0" rtlCol="0" anchor="t"/>
          <a:lstStyle/>
          <a:p>
            <a:pPr indent="0" marL="0">
              <a:buNone/>
            </a:pPr>
            <a:r>
              <a:rPr lang="en-US" sz="1200" i="1" dirty="0">
                <a:solidFill>
                  <a:schemeClr val="accent4"/>
                </a:solidFill>
              </a:rPr>
              <a:t>8 weighted criteria taken from the business requirements and constraints: linked tables, automation, API support, dashboard, chat and tasks, cost for about 10 users, one Developer can maintain it, ease of use. The ratings are my own assessment, not a full market comparison.</a:t>
            </a:r>
            <a:endParaRPr lang="en-US" sz="1200" dirty="0"/>
          </a:p>
        </p:txBody>
      </p:sp>
      <p:sp>
        <p:nvSpPr>
          <p:cNvPr id="6" name="Text 124"/>
          <p:cNvSpPr txBox="1"/>
          <p:nvPr/>
        </p:nvSpPr>
        <p:spPr>
          <a:xfrm>
            <a:off x="6583680" y="1463040"/>
            <a:ext cx="5059375" cy="365760"/>
          </a:xfrm>
          <a:prstGeom prst="rect">
            <a:avLst/>
          </a:prstGeom>
          <a:noFill/>
          <a:ln/>
        </p:spPr>
        <p:txBody>
          <a:bodyPr wrap="square" lIns="0" tIns="0" rIns="0" bIns="0" rtlCol="0" anchor="ctr"/>
          <a:lstStyle/>
          <a:p>
            <a:pPr indent="0" marL="0">
              <a:buNone/>
            </a:pPr>
            <a:r>
              <a:rPr lang="en-US" sz="1800" b="1" dirty="0">
                <a:solidFill>
                  <a:schemeClr val="tx2"/>
                </a:solidFill>
              </a:rPr>
              <a:t>Why Lark</a:t>
            </a:r>
            <a:endParaRPr lang="en-US" sz="1800" dirty="0"/>
          </a:p>
        </p:txBody>
      </p:sp>
      <p:sp>
        <p:nvSpPr>
          <p:cNvPr id="7" name="Icon circle 125"/>
          <p:cNvSpPr/>
          <p:nvPr/>
        </p:nvSpPr>
        <p:spPr>
          <a:xfrm>
            <a:off x="6583680" y="1975104"/>
            <a:ext cx="365760" cy="365760"/>
          </a:xfrm>
          <a:prstGeom prst="ellipse">
            <a:avLst/>
          </a:prstGeom>
          <a:solidFill>
            <a:schemeClr val="accent3"/>
          </a:solidFill>
          <a:ln w="12700">
            <a:solidFill>
              <a:schemeClr val="accent3"/>
            </a:solidFill>
            <a:prstDash val="solid"/>
          </a:ln>
        </p:spPr>
      </p:sp>
      <p:pic>
        <p:nvPicPr>
          <p:cNvPr id="8" name="Icon 126" descr="preencoded.png">    </p:cNvPr>
          <p:cNvPicPr>
            <a:picLocks noChangeAspect="1"/>
          </p:cNvPicPr>
          <p:nvPr/>
        </p:nvPicPr>
        <p:blipFill>
          <a:blip r:embed="rId2"/>
          <a:stretch>
            <a:fillRect/>
          </a:stretch>
        </p:blipFill>
        <p:spPr>
          <a:xfrm>
            <a:off x="6684264" y="2075688"/>
            <a:ext cx="164592" cy="164592"/>
          </a:xfrm>
          <a:prstGeom prst="rect">
            <a:avLst/>
          </a:prstGeom>
        </p:spPr>
      </p:pic>
      <p:sp>
        <p:nvSpPr>
          <p:cNvPr id="9" name="Text 127"/>
          <p:cNvSpPr txBox="1"/>
          <p:nvPr/>
        </p:nvSpPr>
        <p:spPr>
          <a:xfrm>
            <a:off x="7095744" y="1920240"/>
            <a:ext cx="4547311" cy="640080"/>
          </a:xfrm>
          <a:prstGeom prst="rect">
            <a:avLst/>
          </a:prstGeom>
          <a:noFill/>
          <a:ln/>
        </p:spPr>
        <p:txBody>
          <a:bodyPr wrap="square" lIns="0" tIns="0" rIns="0" bIns="0" rtlCol="0" anchor="ctr"/>
          <a:lstStyle/>
          <a:p>
            <a:pPr indent="0" marL="0">
              <a:buNone/>
            </a:pPr>
            <a:r>
              <a:rPr lang="en-US" sz="1300" b="1" dirty="0">
                <a:solidFill>
                  <a:schemeClr val="tx1"/>
                </a:solidFill>
              </a:rPr>
              <a:t>Fits the problem</a:t>
            </a:r>
            <a:endParaRPr lang="en-US" sz="1300" dirty="0"/>
          </a:p>
          <a:p>
            <a:pPr indent="0" marL="0">
              <a:buNone/>
            </a:pPr>
            <a:r>
              <a:rPr lang="en-US" sz="1300" dirty="0">
                <a:solidFill>
                  <a:schemeClr val="accent4"/>
                </a:solidFill>
              </a:rPr>
              <a:t>Information is spread across many tools today. A stack of three separate tools could repeat that.</a:t>
            </a:r>
            <a:endParaRPr lang="en-US" sz="1300" dirty="0"/>
          </a:p>
        </p:txBody>
      </p:sp>
      <p:sp>
        <p:nvSpPr>
          <p:cNvPr id="10" name="Icon circle 128"/>
          <p:cNvSpPr/>
          <p:nvPr/>
        </p:nvSpPr>
        <p:spPr>
          <a:xfrm>
            <a:off x="6583680" y="2688336"/>
            <a:ext cx="365760" cy="365760"/>
          </a:xfrm>
          <a:prstGeom prst="ellipse">
            <a:avLst/>
          </a:prstGeom>
          <a:solidFill>
            <a:schemeClr val="accent3"/>
          </a:solidFill>
          <a:ln w="12700">
            <a:solidFill>
              <a:schemeClr val="accent3"/>
            </a:solidFill>
            <a:prstDash val="solid"/>
          </a:ln>
        </p:spPr>
      </p:sp>
      <p:pic>
        <p:nvPicPr>
          <p:cNvPr id="11" name="Icon 129" descr="preencoded.png">    </p:cNvPr>
          <p:cNvPicPr>
            <a:picLocks noChangeAspect="1"/>
          </p:cNvPicPr>
          <p:nvPr/>
        </p:nvPicPr>
        <p:blipFill>
          <a:blip r:embed="rId3"/>
          <a:stretch>
            <a:fillRect/>
          </a:stretch>
        </p:blipFill>
        <p:spPr>
          <a:xfrm>
            <a:off x="6684264" y="2788920"/>
            <a:ext cx="164592" cy="164592"/>
          </a:xfrm>
          <a:prstGeom prst="rect">
            <a:avLst/>
          </a:prstGeom>
        </p:spPr>
      </p:pic>
      <p:sp>
        <p:nvSpPr>
          <p:cNvPr id="12" name="Text 130"/>
          <p:cNvSpPr txBox="1"/>
          <p:nvPr/>
        </p:nvSpPr>
        <p:spPr>
          <a:xfrm>
            <a:off x="7095744" y="2633472"/>
            <a:ext cx="4547311" cy="640080"/>
          </a:xfrm>
          <a:prstGeom prst="rect">
            <a:avLst/>
          </a:prstGeom>
          <a:noFill/>
          <a:ln/>
        </p:spPr>
        <p:txBody>
          <a:bodyPr wrap="square" lIns="0" tIns="0" rIns="0" bIns="0" rtlCol="0" anchor="ctr"/>
          <a:lstStyle/>
          <a:p>
            <a:pPr indent="0" marL="0">
              <a:buNone/>
            </a:pPr>
            <a:r>
              <a:rPr lang="en-US" sz="1300" b="1" dirty="0">
                <a:solidFill>
                  <a:schemeClr val="tx1"/>
                </a:solidFill>
              </a:rPr>
              <a:t>Fits the constraints</a:t>
            </a:r>
            <a:endParaRPr lang="en-US" sz="1300" dirty="0"/>
          </a:p>
          <a:p>
            <a:pPr indent="0" marL="0">
              <a:buNone/>
            </a:pPr>
            <a:r>
              <a:rPr lang="en-US" sz="1300" dirty="0">
                <a:solidFill>
                  <a:schemeClr val="accent4"/>
                </a:solidFill>
              </a:rPr>
              <a:t>The cost suits about 10 users; one Developer can maintain it.</a:t>
            </a:r>
            <a:endParaRPr lang="en-US" sz="1300" dirty="0"/>
          </a:p>
        </p:txBody>
      </p:sp>
      <p:sp>
        <p:nvSpPr>
          <p:cNvPr id="13" name="Icon circle 131"/>
          <p:cNvSpPr/>
          <p:nvPr/>
        </p:nvSpPr>
        <p:spPr>
          <a:xfrm>
            <a:off x="6583680" y="3401568"/>
            <a:ext cx="365760" cy="365760"/>
          </a:xfrm>
          <a:prstGeom prst="ellipse">
            <a:avLst/>
          </a:prstGeom>
          <a:solidFill>
            <a:schemeClr val="accent3"/>
          </a:solidFill>
          <a:ln w="12700">
            <a:solidFill>
              <a:schemeClr val="accent3"/>
            </a:solidFill>
            <a:prstDash val="solid"/>
          </a:ln>
        </p:spPr>
      </p:sp>
      <p:pic>
        <p:nvPicPr>
          <p:cNvPr id="14" name="Icon 132" descr="preencoded.png">    </p:cNvPr>
          <p:cNvPicPr>
            <a:picLocks noChangeAspect="1"/>
          </p:cNvPicPr>
          <p:nvPr/>
        </p:nvPicPr>
        <p:blipFill>
          <a:blip r:embed="rId4"/>
          <a:stretch>
            <a:fillRect/>
          </a:stretch>
        </p:blipFill>
        <p:spPr>
          <a:xfrm>
            <a:off x="6684264" y="3502152"/>
            <a:ext cx="164592" cy="164592"/>
          </a:xfrm>
          <a:prstGeom prst="rect">
            <a:avLst/>
          </a:prstGeom>
        </p:spPr>
      </p:pic>
      <p:sp>
        <p:nvSpPr>
          <p:cNvPr id="15" name="Text 133"/>
          <p:cNvSpPr txBox="1"/>
          <p:nvPr/>
        </p:nvSpPr>
        <p:spPr>
          <a:xfrm>
            <a:off x="7095744" y="3346704"/>
            <a:ext cx="4547311" cy="640080"/>
          </a:xfrm>
          <a:prstGeom prst="rect">
            <a:avLst/>
          </a:prstGeom>
          <a:noFill/>
          <a:ln/>
        </p:spPr>
        <p:txBody>
          <a:bodyPr wrap="square" lIns="0" tIns="0" rIns="0" bIns="0" rtlCol="0" anchor="ctr"/>
          <a:lstStyle/>
          <a:p>
            <a:pPr indent="0" marL="0">
              <a:buNone/>
            </a:pPr>
            <a:r>
              <a:rPr lang="en-US" sz="1300" b="1" dirty="0">
                <a:solidFill>
                  <a:schemeClr val="tx1"/>
                </a:solidFill>
              </a:rPr>
              <a:t>One workspace</a:t>
            </a:r>
            <a:endParaRPr lang="en-US" sz="1300" dirty="0"/>
          </a:p>
          <a:p>
            <a:pPr indent="0" marL="0">
              <a:buNone/>
            </a:pPr>
            <a:r>
              <a:rPr lang="en-US" sz="1300" dirty="0">
                <a:solidFill>
                  <a:schemeClr val="accent4"/>
                </a:solidFill>
              </a:rPr>
              <a:t>Orders, supplier mapping, exceptions, issue cases and reporting in one place.</a:t>
            </a:r>
            <a:endParaRPr lang="en-US" sz="1300" dirty="0"/>
          </a:p>
        </p:txBody>
      </p:sp>
      <p:sp>
        <p:nvSpPr>
          <p:cNvPr id="16" name="Card 134"/>
          <p:cNvSpPr/>
          <p:nvPr/>
        </p:nvSpPr>
        <p:spPr>
          <a:xfrm>
            <a:off x="6583680" y="4160520"/>
            <a:ext cx="5059375" cy="2011680"/>
          </a:xfrm>
          <a:prstGeom prst="roundRect">
            <a:avLst>
              <a:gd name="adj" fmla="val 3636"/>
            </a:avLst>
          </a:prstGeom>
          <a:solidFill>
            <a:schemeClr val="bg2"/>
          </a:solidFill>
          <a:ln w="12700">
            <a:solidFill>
              <a:schemeClr val="bg2"/>
            </a:solidFill>
            <a:prstDash val="solid"/>
          </a:ln>
        </p:spPr>
      </p:sp>
      <p:sp>
        <p:nvSpPr>
          <p:cNvPr id="17" name="Text 135"/>
          <p:cNvSpPr txBox="1"/>
          <p:nvPr/>
        </p:nvSpPr>
        <p:spPr>
          <a:xfrm>
            <a:off x="6784848" y="4233672"/>
            <a:ext cx="4657039" cy="320040"/>
          </a:xfrm>
          <a:prstGeom prst="rect">
            <a:avLst/>
          </a:prstGeom>
          <a:noFill/>
          <a:ln/>
        </p:spPr>
        <p:txBody>
          <a:bodyPr wrap="square" lIns="0" tIns="0" rIns="0" bIns="0" rtlCol="0" anchor="ctr"/>
          <a:lstStyle/>
          <a:p>
            <a:pPr indent="0" marL="0">
              <a:buNone/>
            </a:pPr>
            <a:r>
              <a:rPr lang="en-US" sz="1600" b="1" dirty="0">
                <a:solidFill>
                  <a:schemeClr val="tx2"/>
                </a:solidFill>
              </a:rPr>
              <a:t>Trade-offs accepted</a:t>
            </a:r>
            <a:endParaRPr lang="en-US" sz="1600" dirty="0"/>
          </a:p>
        </p:txBody>
      </p:sp>
      <p:sp>
        <p:nvSpPr>
          <p:cNvPr id="18" name="Text 136"/>
          <p:cNvSpPr txBox="1"/>
          <p:nvPr/>
        </p:nvSpPr>
        <p:spPr>
          <a:xfrm>
            <a:off x="6784848" y="4617720"/>
            <a:ext cx="4657039" cy="457200"/>
          </a:xfrm>
          <a:prstGeom prst="rect">
            <a:avLst/>
          </a:prstGeom>
          <a:noFill/>
          <a:ln/>
        </p:spPr>
        <p:txBody>
          <a:bodyPr wrap="square" lIns="0" tIns="0" rIns="0" bIns="0" rtlCol="0" anchor="ctr"/>
          <a:lstStyle/>
          <a:p>
            <a:pPr indent="0" marL="0">
              <a:buNone/>
            </a:pPr>
            <a:r>
              <a:rPr lang="en-US" sz="1300" b="1" dirty="0">
                <a:solidFill>
                  <a:schemeClr val="tx1"/>
                </a:solidFill>
              </a:rPr>
              <a:t>API support is Adequate, not Strong</a:t>
            </a:r>
            <a:endParaRPr lang="en-US" sz="1300" dirty="0"/>
          </a:p>
          <a:p>
            <a:pPr indent="0" marL="0">
              <a:buNone/>
            </a:pPr>
            <a:r>
              <a:rPr lang="en-US" sz="1300" dirty="0">
                <a:solidFill>
                  <a:schemeClr val="accent4"/>
                </a:solidFill>
              </a:rPr>
              <a:t>→  integration layer and failure alerts</a:t>
            </a:r>
            <a:endParaRPr lang="en-US" sz="1300" dirty="0"/>
          </a:p>
        </p:txBody>
      </p:sp>
      <p:sp>
        <p:nvSpPr>
          <p:cNvPr id="19" name="Text 137"/>
          <p:cNvSpPr txBox="1"/>
          <p:nvPr/>
        </p:nvSpPr>
        <p:spPr>
          <a:xfrm>
            <a:off x="6784848" y="5120640"/>
            <a:ext cx="4657039" cy="457200"/>
          </a:xfrm>
          <a:prstGeom prst="rect">
            <a:avLst/>
          </a:prstGeom>
          <a:noFill/>
          <a:ln/>
        </p:spPr>
        <p:txBody>
          <a:bodyPr wrap="square" lIns="0" tIns="0" rIns="0" bIns="0" rtlCol="0" anchor="ctr"/>
          <a:lstStyle/>
          <a:p>
            <a:pPr indent="0" marL="0">
              <a:buNone/>
            </a:pPr>
            <a:r>
              <a:rPr lang="en-US" sz="1300" b="1" dirty="0">
                <a:solidFill>
                  <a:schemeClr val="tx1"/>
                </a:solidFill>
              </a:rPr>
              <a:t>One platform, one dependency</a:t>
            </a:r>
            <a:endParaRPr lang="en-US" sz="1300" dirty="0"/>
          </a:p>
          <a:p>
            <a:pPr indent="0" marL="0">
              <a:buNone/>
            </a:pPr>
            <a:r>
              <a:rPr lang="en-US" sz="1300" dirty="0">
                <a:solidFill>
                  <a:schemeClr val="accent4"/>
                </a:solidFill>
              </a:rPr>
              <a:t>→  the current process stays available</a:t>
            </a:r>
            <a:endParaRPr lang="en-US" sz="1300" dirty="0"/>
          </a:p>
        </p:txBody>
      </p:sp>
      <p:sp>
        <p:nvSpPr>
          <p:cNvPr id="20" name="Text 138"/>
          <p:cNvSpPr txBox="1"/>
          <p:nvPr/>
        </p:nvSpPr>
        <p:spPr>
          <a:xfrm>
            <a:off x="6784848" y="5623560"/>
            <a:ext cx="4657039" cy="457200"/>
          </a:xfrm>
          <a:prstGeom prst="rect">
            <a:avLst/>
          </a:prstGeom>
          <a:noFill/>
          <a:ln/>
        </p:spPr>
        <p:txBody>
          <a:bodyPr wrap="square" lIns="0" tIns="0" rIns="0" bIns="0" rtlCol="0" anchor="ctr"/>
          <a:lstStyle/>
          <a:p>
            <a:pPr indent="0" marL="0">
              <a:buNone/>
            </a:pPr>
            <a:r>
              <a:rPr lang="en-US" sz="1300" b="1" dirty="0">
                <a:solidFill>
                  <a:schemeClr val="tx1"/>
                </a:solidFill>
              </a:rPr>
              <a:t>Plan limits and personal data</a:t>
            </a:r>
            <a:endParaRPr lang="en-US" sz="1300" dirty="0"/>
          </a:p>
          <a:p>
            <a:pPr indent="0" marL="0">
              <a:buNone/>
            </a:pPr>
            <a:r>
              <a:rPr lang="en-US" sz="1300" dirty="0">
                <a:solidFill>
                  <a:schemeClr val="accent4"/>
                </a:solidFill>
              </a:rPr>
              <a:t>→  checked in R0 and before go-live</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The system handles the routine steps. CS steps in only when an order line needs action.</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To-Be Process</a:t>
            </a:r>
            <a:endParaRPr lang="en-US" sz="3200" dirty="0"/>
          </a:p>
        </p:txBody>
      </p:sp>
      <p:pic>
        <p:nvPicPr>
          <p:cNvPr id="4" name="To-Be order fulfillment diagram" descr="To-Be order management and fulfillment swimlane diagram; green boxes are done by the system in Lark">    </p:cNvPr>
          <p:cNvPicPr>
            <a:picLocks noChangeAspect="1"/>
          </p:cNvPicPr>
          <p:nvPr/>
        </p:nvPicPr>
        <p:blipFill>
          <a:blip r:embed="rId1"/>
          <a:stretch>
            <a:fillRect/>
          </a:stretch>
        </p:blipFill>
        <p:spPr>
          <a:xfrm>
            <a:off x="548640" y="1463040"/>
            <a:ext cx="11094415" cy="2820614"/>
          </a:xfrm>
          <a:prstGeom prst="rect">
            <a:avLst/>
          </a:prstGeom>
        </p:spPr>
      </p:pic>
      <p:sp>
        <p:nvSpPr>
          <p:cNvPr id="5" name="Card 139"/>
          <p:cNvSpPr/>
          <p:nvPr/>
        </p:nvSpPr>
        <p:spPr>
          <a:xfrm>
            <a:off x="548640" y="4420814"/>
            <a:ext cx="2650160" cy="1449634"/>
          </a:xfrm>
          <a:prstGeom prst="roundRect">
            <a:avLst>
              <a:gd name="adj" fmla="val 5046"/>
            </a:avLst>
          </a:prstGeom>
          <a:solidFill>
            <a:schemeClr val="bg2"/>
          </a:solidFill>
          <a:ln w="12700">
            <a:solidFill>
              <a:schemeClr val="bg2"/>
            </a:solidFill>
            <a:prstDash val="solid"/>
          </a:ln>
        </p:spPr>
      </p:sp>
      <p:sp>
        <p:nvSpPr>
          <p:cNvPr id="6" name="Text 140"/>
          <p:cNvSpPr txBox="1"/>
          <p:nvPr/>
        </p:nvSpPr>
        <p:spPr>
          <a:xfrm>
            <a:off x="713232" y="4512254"/>
            <a:ext cx="2320976" cy="292608"/>
          </a:xfrm>
          <a:prstGeom prst="rect">
            <a:avLst/>
          </a:prstGeom>
          <a:noFill/>
          <a:ln/>
        </p:spPr>
        <p:txBody>
          <a:bodyPr wrap="square" lIns="0" tIns="0" rIns="0" bIns="0" rtlCol="0" anchor="ctr"/>
          <a:lstStyle/>
          <a:p>
            <a:pPr indent="0" marL="0">
              <a:buNone/>
            </a:pPr>
            <a:r>
              <a:rPr lang="en-US" sz="1400" b="1" dirty="0">
                <a:solidFill>
                  <a:schemeClr val="tx2"/>
                </a:solidFill>
              </a:rPr>
              <a:t>Choose the supplier</a:t>
            </a:r>
            <a:endParaRPr lang="en-US" sz="1400" dirty="0"/>
          </a:p>
        </p:txBody>
      </p:sp>
      <p:sp>
        <p:nvSpPr>
          <p:cNvPr id="7" name="Text 141"/>
          <p:cNvSpPr txBox="1"/>
          <p:nvPr/>
        </p:nvSpPr>
        <p:spPr>
          <a:xfrm>
            <a:off x="713232" y="4859726"/>
            <a:ext cx="2320976" cy="919282"/>
          </a:xfrm>
          <a:prstGeom prst="rect">
            <a:avLst/>
          </a:prstGeom>
          <a:noFill/>
          <a:ln/>
        </p:spPr>
        <p:txBody>
          <a:bodyPr wrap="square" lIns="0" tIns="0" rIns="0" bIns="0" rtlCol="0" anchor="t"/>
          <a:lstStyle/>
          <a:p>
            <a:pPr indent="0" marL="0">
              <a:spcAft>
                <a:spcPts val="600"/>
              </a:spcAft>
              <a:buNone/>
            </a:pPr>
            <a:r>
              <a:rPr lang="en-US" sz="1200" b="1" dirty="0">
                <a:solidFill>
                  <a:schemeClr val="accent2"/>
                </a:solidFill>
              </a:rPr>
              <a:t>As-Is  </a:t>
            </a:r>
            <a:pPr indent="0" marL="0">
              <a:spcAft>
                <a:spcPts val="600"/>
              </a:spcAft>
              <a:buNone/>
            </a:pPr>
            <a:r>
              <a:rPr lang="en-US" sz="1200" dirty="0">
                <a:solidFill>
                  <a:schemeClr val="accent4"/>
                </a:solidFill>
              </a:rPr>
              <a:t>For every order, by hand</a:t>
            </a:r>
            <a:endParaRPr lang="en-US" sz="1200" dirty="0"/>
          </a:p>
          <a:p>
            <a:pPr indent="0" marL="0">
              <a:spcAft>
                <a:spcPts val="600"/>
              </a:spcAft>
              <a:buNone/>
            </a:pPr>
            <a:r>
              <a:rPr lang="en-US" sz="1200" b="1" dirty="0">
                <a:solidFill>
                  <a:schemeClr val="accent3"/>
                </a:solidFill>
              </a:rPr>
              <a:t>To-Be  </a:t>
            </a:r>
            <a:pPr indent="0" marL="0">
              <a:spcAft>
                <a:spcPts val="600"/>
              </a:spcAft>
              <a:buNone/>
            </a:pPr>
            <a:r>
              <a:rPr lang="en-US" sz="1200" dirty="0">
                <a:solidFill>
                  <a:schemeClr val="tx1"/>
                </a:solidFill>
              </a:rPr>
              <a:t>From the Product Type mapping. CS assigns the backup supplier only when needed.</a:t>
            </a:r>
            <a:endParaRPr lang="en-US" sz="1200" dirty="0"/>
          </a:p>
        </p:txBody>
      </p:sp>
      <p:sp>
        <p:nvSpPr>
          <p:cNvPr id="8" name="Card 142"/>
          <p:cNvSpPr/>
          <p:nvPr/>
        </p:nvSpPr>
        <p:spPr>
          <a:xfrm>
            <a:off x="3363392" y="4420814"/>
            <a:ext cx="2650160" cy="1449634"/>
          </a:xfrm>
          <a:prstGeom prst="roundRect">
            <a:avLst>
              <a:gd name="adj" fmla="val 5046"/>
            </a:avLst>
          </a:prstGeom>
          <a:solidFill>
            <a:schemeClr val="bg2"/>
          </a:solidFill>
          <a:ln w="12700">
            <a:solidFill>
              <a:schemeClr val="bg2"/>
            </a:solidFill>
            <a:prstDash val="solid"/>
          </a:ln>
        </p:spPr>
      </p:sp>
      <p:sp>
        <p:nvSpPr>
          <p:cNvPr id="9" name="Text 143"/>
          <p:cNvSpPr txBox="1"/>
          <p:nvPr/>
        </p:nvSpPr>
        <p:spPr>
          <a:xfrm>
            <a:off x="3527984" y="4512254"/>
            <a:ext cx="2320976" cy="292608"/>
          </a:xfrm>
          <a:prstGeom prst="rect">
            <a:avLst/>
          </a:prstGeom>
          <a:noFill/>
          <a:ln/>
        </p:spPr>
        <p:txBody>
          <a:bodyPr wrap="square" lIns="0" tIns="0" rIns="0" bIns="0" rtlCol="0" anchor="ctr"/>
          <a:lstStyle/>
          <a:p>
            <a:pPr indent="0" marL="0">
              <a:buNone/>
            </a:pPr>
            <a:r>
              <a:rPr lang="en-US" sz="1400" b="1" dirty="0">
                <a:solidFill>
                  <a:schemeClr val="tx2"/>
                </a:solidFill>
              </a:rPr>
              <a:t>Send the order</a:t>
            </a:r>
            <a:endParaRPr lang="en-US" sz="1400" dirty="0"/>
          </a:p>
        </p:txBody>
      </p:sp>
      <p:sp>
        <p:nvSpPr>
          <p:cNvPr id="10" name="Text 144"/>
          <p:cNvSpPr txBox="1"/>
          <p:nvPr/>
        </p:nvSpPr>
        <p:spPr>
          <a:xfrm>
            <a:off x="3527984" y="4859726"/>
            <a:ext cx="2320976" cy="919282"/>
          </a:xfrm>
          <a:prstGeom prst="rect">
            <a:avLst/>
          </a:prstGeom>
          <a:noFill/>
          <a:ln/>
        </p:spPr>
        <p:txBody>
          <a:bodyPr wrap="square" lIns="0" tIns="0" rIns="0" bIns="0" rtlCol="0" anchor="t"/>
          <a:lstStyle/>
          <a:p>
            <a:pPr indent="0" marL="0">
              <a:spcAft>
                <a:spcPts val="600"/>
              </a:spcAft>
              <a:buNone/>
            </a:pPr>
            <a:r>
              <a:rPr lang="en-US" sz="1200" b="1" dirty="0">
                <a:solidFill>
                  <a:schemeClr val="accent2"/>
                </a:solidFill>
              </a:rPr>
              <a:t>As-Is  </a:t>
            </a:r>
            <a:pPr indent="0" marL="0">
              <a:spcAft>
                <a:spcPts val="600"/>
              </a:spcAft>
              <a:buNone/>
            </a:pPr>
            <a:r>
              <a:rPr lang="en-US" sz="1200" dirty="0">
                <a:solidFill>
                  <a:schemeClr val="accent4"/>
                </a:solidFill>
              </a:rPr>
              <a:t>Typed into the supplier system</a:t>
            </a:r>
            <a:endParaRPr lang="en-US" sz="1200" dirty="0"/>
          </a:p>
          <a:p>
            <a:pPr indent="0" marL="0">
              <a:spcAft>
                <a:spcPts val="600"/>
              </a:spcAft>
              <a:buNone/>
            </a:pPr>
            <a:r>
              <a:rPr lang="en-US" sz="1200" b="1" dirty="0">
                <a:solidFill>
                  <a:schemeClr val="accent3"/>
                </a:solidFill>
              </a:rPr>
              <a:t>To-Be  </a:t>
            </a:r>
            <a:pPr indent="0" marL="0">
              <a:spcAft>
                <a:spcPts val="600"/>
              </a:spcAft>
              <a:buNone/>
            </a:pPr>
            <a:r>
              <a:rPr lang="en-US" sz="1200" dirty="0">
                <a:solidFill>
                  <a:schemeClr val="tx1"/>
                </a:solidFill>
              </a:rPr>
              <a:t>Checked, then sent by API. CS fixes only the lines that fail the check.</a:t>
            </a:r>
            <a:endParaRPr lang="en-US" sz="1200" dirty="0"/>
          </a:p>
        </p:txBody>
      </p:sp>
      <p:sp>
        <p:nvSpPr>
          <p:cNvPr id="11" name="Card 145"/>
          <p:cNvSpPr/>
          <p:nvPr/>
        </p:nvSpPr>
        <p:spPr>
          <a:xfrm>
            <a:off x="6178144" y="4420814"/>
            <a:ext cx="2650160" cy="1449634"/>
          </a:xfrm>
          <a:prstGeom prst="roundRect">
            <a:avLst>
              <a:gd name="adj" fmla="val 5046"/>
            </a:avLst>
          </a:prstGeom>
          <a:solidFill>
            <a:schemeClr val="bg2"/>
          </a:solidFill>
          <a:ln w="12700">
            <a:solidFill>
              <a:schemeClr val="bg2"/>
            </a:solidFill>
            <a:prstDash val="solid"/>
          </a:ln>
        </p:spPr>
      </p:sp>
      <p:sp>
        <p:nvSpPr>
          <p:cNvPr id="12" name="Text 146"/>
          <p:cNvSpPr txBox="1"/>
          <p:nvPr/>
        </p:nvSpPr>
        <p:spPr>
          <a:xfrm>
            <a:off x="6342736" y="4512254"/>
            <a:ext cx="2320976" cy="292608"/>
          </a:xfrm>
          <a:prstGeom prst="rect">
            <a:avLst/>
          </a:prstGeom>
          <a:noFill/>
          <a:ln/>
        </p:spPr>
        <p:txBody>
          <a:bodyPr wrap="square" lIns="0" tIns="0" rIns="0" bIns="0" rtlCol="0" anchor="ctr"/>
          <a:lstStyle/>
          <a:p>
            <a:pPr indent="0" marL="0">
              <a:buNone/>
            </a:pPr>
            <a:r>
              <a:rPr lang="en-US" sz="1400" b="1" dirty="0">
                <a:solidFill>
                  <a:schemeClr val="tx2"/>
                </a:solidFill>
              </a:rPr>
              <a:t>Follow status</a:t>
            </a:r>
            <a:endParaRPr lang="en-US" sz="1400" dirty="0"/>
          </a:p>
        </p:txBody>
      </p:sp>
      <p:sp>
        <p:nvSpPr>
          <p:cNvPr id="13" name="Text 147"/>
          <p:cNvSpPr txBox="1"/>
          <p:nvPr/>
        </p:nvSpPr>
        <p:spPr>
          <a:xfrm>
            <a:off x="6342736" y="4859726"/>
            <a:ext cx="2320976" cy="919282"/>
          </a:xfrm>
          <a:prstGeom prst="rect">
            <a:avLst/>
          </a:prstGeom>
          <a:noFill/>
          <a:ln/>
        </p:spPr>
        <p:txBody>
          <a:bodyPr wrap="square" lIns="0" tIns="0" rIns="0" bIns="0" rtlCol="0" anchor="t"/>
          <a:lstStyle/>
          <a:p>
            <a:pPr indent="0" marL="0">
              <a:spcAft>
                <a:spcPts val="600"/>
              </a:spcAft>
              <a:buNone/>
            </a:pPr>
            <a:r>
              <a:rPr lang="en-US" sz="1200" b="1" dirty="0">
                <a:solidFill>
                  <a:schemeClr val="accent2"/>
                </a:solidFill>
              </a:rPr>
              <a:t>As-Is  </a:t>
            </a:r>
            <a:pPr indent="0" marL="0">
              <a:spcAft>
                <a:spcPts val="600"/>
              </a:spcAft>
              <a:buNone/>
            </a:pPr>
            <a:r>
              <a:rPr lang="en-US" sz="1200" dirty="0">
                <a:solidFill>
                  <a:schemeClr val="accent4"/>
                </a:solidFill>
              </a:rPr>
              <a:t>Supplier systems checked repeatedly</a:t>
            </a:r>
            <a:endParaRPr lang="en-US" sz="1200" dirty="0"/>
          </a:p>
          <a:p>
            <a:pPr indent="0" marL="0">
              <a:spcAft>
                <a:spcPts val="600"/>
              </a:spcAft>
              <a:buNone/>
            </a:pPr>
            <a:r>
              <a:rPr lang="en-US" sz="1200" b="1" dirty="0">
                <a:solidFill>
                  <a:schemeClr val="accent3"/>
                </a:solidFill>
              </a:rPr>
              <a:t>To-Be  </a:t>
            </a:r>
            <a:pPr indent="0" marL="0">
              <a:spcAft>
                <a:spcPts val="600"/>
              </a:spcAft>
              <a:buNone/>
            </a:pPr>
            <a:r>
              <a:rPr lang="en-US" sz="1200" dirty="0">
                <a:solidFill>
                  <a:schemeClr val="tx1"/>
                </a:solidFill>
              </a:rPr>
              <a:t>Status comes back by API. CS works the exception queue.</a:t>
            </a:r>
            <a:endParaRPr lang="en-US" sz="1200" dirty="0"/>
          </a:p>
        </p:txBody>
      </p:sp>
      <p:sp>
        <p:nvSpPr>
          <p:cNvPr id="14" name="Card 148"/>
          <p:cNvSpPr/>
          <p:nvPr/>
        </p:nvSpPr>
        <p:spPr>
          <a:xfrm>
            <a:off x="8992895" y="4420814"/>
            <a:ext cx="2650160" cy="1449634"/>
          </a:xfrm>
          <a:prstGeom prst="roundRect">
            <a:avLst>
              <a:gd name="adj" fmla="val 5046"/>
            </a:avLst>
          </a:prstGeom>
          <a:solidFill>
            <a:schemeClr val="bg2"/>
          </a:solidFill>
          <a:ln w="12700">
            <a:solidFill>
              <a:schemeClr val="bg2"/>
            </a:solidFill>
            <a:prstDash val="solid"/>
          </a:ln>
        </p:spPr>
      </p:sp>
      <p:sp>
        <p:nvSpPr>
          <p:cNvPr id="15" name="Text 149"/>
          <p:cNvSpPr txBox="1"/>
          <p:nvPr/>
        </p:nvSpPr>
        <p:spPr>
          <a:xfrm>
            <a:off x="9157487" y="4512254"/>
            <a:ext cx="2320976" cy="292608"/>
          </a:xfrm>
          <a:prstGeom prst="rect">
            <a:avLst/>
          </a:prstGeom>
          <a:noFill/>
          <a:ln/>
        </p:spPr>
        <p:txBody>
          <a:bodyPr wrap="square" lIns="0" tIns="0" rIns="0" bIns="0" rtlCol="0" anchor="ctr"/>
          <a:lstStyle/>
          <a:p>
            <a:pPr indent="0" marL="0">
              <a:buNone/>
            </a:pPr>
            <a:r>
              <a:rPr lang="en-US" sz="1400" b="1" dirty="0">
                <a:solidFill>
                  <a:schemeClr val="tx2"/>
                </a:solidFill>
              </a:rPr>
              <a:t>Update tracking</a:t>
            </a:r>
            <a:endParaRPr lang="en-US" sz="1400" dirty="0"/>
          </a:p>
        </p:txBody>
      </p:sp>
      <p:sp>
        <p:nvSpPr>
          <p:cNvPr id="16" name="Text 150"/>
          <p:cNvSpPr txBox="1"/>
          <p:nvPr/>
        </p:nvSpPr>
        <p:spPr>
          <a:xfrm>
            <a:off x="9157487" y="4859726"/>
            <a:ext cx="2320976" cy="919282"/>
          </a:xfrm>
          <a:prstGeom prst="rect">
            <a:avLst/>
          </a:prstGeom>
          <a:noFill/>
          <a:ln/>
        </p:spPr>
        <p:txBody>
          <a:bodyPr wrap="square" lIns="0" tIns="0" rIns="0" bIns="0" rtlCol="0" anchor="t"/>
          <a:lstStyle/>
          <a:p>
            <a:pPr indent="0" marL="0">
              <a:spcAft>
                <a:spcPts val="600"/>
              </a:spcAft>
              <a:buNone/>
            </a:pPr>
            <a:r>
              <a:rPr lang="en-US" sz="1200" b="1" dirty="0">
                <a:solidFill>
                  <a:schemeClr val="accent2"/>
                </a:solidFill>
              </a:rPr>
              <a:t>As-Is  </a:t>
            </a:r>
            <a:pPr indent="0" marL="0">
              <a:spcAft>
                <a:spcPts val="600"/>
              </a:spcAft>
              <a:buNone/>
            </a:pPr>
            <a:r>
              <a:rPr lang="en-US" sz="1200" dirty="0">
                <a:solidFill>
                  <a:schemeClr val="accent4"/>
                </a:solidFill>
              </a:rPr>
              <a:t>Tracking numbers copied by hand</a:t>
            </a:r>
            <a:endParaRPr lang="en-US" sz="1200" dirty="0"/>
          </a:p>
          <a:p>
            <a:pPr indent="0" marL="0">
              <a:spcAft>
                <a:spcPts val="600"/>
              </a:spcAft>
              <a:buNone/>
            </a:pPr>
            <a:r>
              <a:rPr lang="en-US" sz="1200" b="1" dirty="0">
                <a:solidFill>
                  <a:schemeClr val="accent3"/>
                </a:solidFill>
              </a:rPr>
              <a:t>To-Be  </a:t>
            </a:r>
            <a:pPr indent="0" marL="0">
              <a:spcAft>
                <a:spcPts val="600"/>
              </a:spcAft>
              <a:buNone/>
            </a:pPr>
            <a:r>
              <a:rPr lang="en-US" sz="1200" dirty="0">
                <a:solidFill>
                  <a:schemeClr val="tx1"/>
                </a:solidFill>
              </a:rPr>
              <a:t>First tracking number synced to Etsy. By hand only if the sync fails.</a:t>
            </a:r>
            <a:endParaRPr lang="en-US" sz="1200" dirty="0"/>
          </a:p>
        </p:txBody>
      </p:sp>
      <p:sp>
        <p:nvSpPr>
          <p:cNvPr id="17" name="Text 151"/>
          <p:cNvSpPr txBox="1"/>
          <p:nvPr/>
        </p:nvSpPr>
        <p:spPr>
          <a:xfrm>
            <a:off x="548640" y="5943600"/>
            <a:ext cx="11094415" cy="274320"/>
          </a:xfrm>
          <a:prstGeom prst="rect">
            <a:avLst/>
          </a:prstGeom>
          <a:noFill/>
          <a:ln/>
        </p:spPr>
        <p:txBody>
          <a:bodyPr wrap="square" lIns="0" tIns="0" rIns="0" bIns="0" rtlCol="0" anchor="ctr"/>
          <a:lstStyle/>
          <a:p>
            <a:pPr indent="0" marL="0">
              <a:buNone/>
            </a:pPr>
            <a:r>
              <a:rPr lang="en-US" sz="1200" i="1" dirty="0">
                <a:solidFill>
                  <a:schemeClr val="accent4"/>
                </a:solidFill>
              </a:rPr>
              <a:t>Team: the 9 current people stay in their roles and 1 Developer is added. PD and CS are not split into separate roles.</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CS works from one queue that shows only the order lines that need action.</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Exception Handling</a:t>
            </a:r>
            <a:endParaRPr lang="en-US" sz="3200" dirty="0"/>
          </a:p>
        </p:txBody>
      </p:sp>
      <p:sp>
        <p:nvSpPr>
          <p:cNvPr id="4" name="Wireframe frame"/>
          <p:cNvSpPr/>
          <p:nvPr/>
        </p:nvSpPr>
        <p:spPr>
          <a:xfrm>
            <a:off x="530352" y="1444752"/>
            <a:ext cx="6803136" cy="2509031"/>
          </a:xfrm>
          <a:prstGeom prst="rect">
            <a:avLst/>
          </a:prstGeom>
          <a:solidFill>
            <a:schemeClr val="bg1"/>
          </a:solidFill>
          <a:ln w="9525">
            <a:solidFill>
              <a:srgbClr val="E1E7EF"/>
            </a:solidFill>
            <a:prstDash val="solid"/>
          </a:ln>
        </p:spPr>
      </p:sp>
      <p:pic>
        <p:nvPicPr>
          <p:cNvPr id="5" name="Needs action wireframe" descr="Wireframe of the Needs action view in Lark Base, listing order lines with exception reason and priority">    </p:cNvPr>
          <p:cNvPicPr>
            <a:picLocks noChangeAspect="1"/>
          </p:cNvPicPr>
          <p:nvPr/>
        </p:nvPicPr>
        <p:blipFill>
          <a:blip r:embed="rId1"/>
          <a:stretch>
            <a:fillRect/>
          </a:stretch>
        </p:blipFill>
        <p:spPr>
          <a:xfrm>
            <a:off x="548640" y="1463040"/>
            <a:ext cx="6766560" cy="2472455"/>
          </a:xfrm>
          <a:prstGeom prst="rect">
            <a:avLst/>
          </a:prstGeom>
        </p:spPr>
      </p:pic>
      <p:sp>
        <p:nvSpPr>
          <p:cNvPr id="6" name="Text 152"/>
          <p:cNvSpPr txBox="1"/>
          <p:nvPr/>
        </p:nvSpPr>
        <p:spPr>
          <a:xfrm>
            <a:off x="548640" y="3990359"/>
            <a:ext cx="6766560" cy="256032"/>
          </a:xfrm>
          <a:prstGeom prst="rect">
            <a:avLst/>
          </a:prstGeom>
          <a:noFill/>
          <a:ln/>
        </p:spPr>
        <p:txBody>
          <a:bodyPr wrap="square" lIns="0" tIns="0" rIns="0" bIns="0" rtlCol="0" anchor="ctr"/>
          <a:lstStyle/>
          <a:p>
            <a:pPr indent="0" marL="0">
              <a:buNone/>
            </a:pPr>
            <a:r>
              <a:rPr lang="en-US" sz="1100" i="1" dirty="0">
                <a:solidFill>
                  <a:schemeClr val="accent4"/>
                </a:solidFill>
              </a:rPr>
              <a:t>Wireframe: the Needs action view in Lark Base (illustrative data)</a:t>
            </a:r>
            <a:endParaRPr lang="en-US" sz="1100" dirty="0"/>
          </a:p>
        </p:txBody>
      </p:sp>
      <p:sp>
        <p:nvSpPr>
          <p:cNvPr id="7" name="Card 153"/>
          <p:cNvSpPr/>
          <p:nvPr/>
        </p:nvSpPr>
        <p:spPr>
          <a:xfrm>
            <a:off x="548640" y="4346975"/>
            <a:ext cx="2157984" cy="1280160"/>
          </a:xfrm>
          <a:prstGeom prst="roundRect">
            <a:avLst>
              <a:gd name="adj" fmla="val 5714"/>
            </a:avLst>
          </a:prstGeom>
          <a:solidFill>
            <a:schemeClr val="bg2"/>
          </a:solidFill>
          <a:ln w="12700">
            <a:solidFill>
              <a:schemeClr val="bg2"/>
            </a:solidFill>
            <a:prstDash val="solid"/>
          </a:ln>
        </p:spPr>
      </p:sp>
      <p:sp>
        <p:nvSpPr>
          <p:cNvPr id="8" name="Text 154"/>
          <p:cNvSpPr txBox="1"/>
          <p:nvPr/>
        </p:nvSpPr>
        <p:spPr>
          <a:xfrm>
            <a:off x="694944" y="4438415"/>
            <a:ext cx="1865376" cy="292608"/>
          </a:xfrm>
          <a:prstGeom prst="rect">
            <a:avLst/>
          </a:prstGeom>
          <a:noFill/>
          <a:ln/>
        </p:spPr>
        <p:txBody>
          <a:bodyPr wrap="square" lIns="0" tIns="0" rIns="0" bIns="0" rtlCol="0" anchor="ctr"/>
          <a:lstStyle/>
          <a:p>
            <a:pPr indent="0" marL="0">
              <a:buNone/>
            </a:pPr>
            <a:r>
              <a:rPr lang="en-US" sz="1400" b="1" dirty="0">
                <a:solidFill>
                  <a:schemeClr val="tx2"/>
                </a:solidFill>
              </a:rPr>
              <a:t>Priority</a:t>
            </a:r>
            <a:endParaRPr lang="en-US" sz="1400" dirty="0"/>
          </a:p>
        </p:txBody>
      </p:sp>
      <p:sp>
        <p:nvSpPr>
          <p:cNvPr id="9" name="Text 155"/>
          <p:cNvSpPr txBox="1"/>
          <p:nvPr/>
        </p:nvSpPr>
        <p:spPr>
          <a:xfrm>
            <a:off x="694944" y="4767599"/>
            <a:ext cx="1865376" cy="786384"/>
          </a:xfrm>
          <a:prstGeom prst="rect">
            <a:avLst/>
          </a:prstGeom>
          <a:noFill/>
          <a:ln/>
        </p:spPr>
        <p:txBody>
          <a:bodyPr wrap="square" lIns="0" tIns="0" rIns="0" bIns="0" rtlCol="0" anchor="t"/>
          <a:lstStyle/>
          <a:p>
            <a:pPr indent="0" marL="0">
              <a:buNone/>
            </a:pPr>
            <a:r>
              <a:rPr lang="en-US" sz="1200" dirty="0">
                <a:solidFill>
                  <a:schemeClr val="tx1"/>
                </a:solidFill>
              </a:rPr>
              <a:t>High when the ship-by date has passed or is 1 business day away or less.</a:t>
            </a:r>
            <a:endParaRPr lang="en-US" sz="1200" dirty="0"/>
          </a:p>
        </p:txBody>
      </p:sp>
      <p:sp>
        <p:nvSpPr>
          <p:cNvPr id="10" name="Card 156"/>
          <p:cNvSpPr/>
          <p:nvPr/>
        </p:nvSpPr>
        <p:spPr>
          <a:xfrm>
            <a:off x="2852928" y="4346975"/>
            <a:ext cx="2157984" cy="1280160"/>
          </a:xfrm>
          <a:prstGeom prst="roundRect">
            <a:avLst>
              <a:gd name="adj" fmla="val 5714"/>
            </a:avLst>
          </a:prstGeom>
          <a:solidFill>
            <a:schemeClr val="bg2"/>
          </a:solidFill>
          <a:ln w="12700">
            <a:solidFill>
              <a:schemeClr val="bg2"/>
            </a:solidFill>
            <a:prstDash val="solid"/>
          </a:ln>
        </p:spPr>
      </p:sp>
      <p:sp>
        <p:nvSpPr>
          <p:cNvPr id="11" name="Text 157"/>
          <p:cNvSpPr txBox="1"/>
          <p:nvPr/>
        </p:nvSpPr>
        <p:spPr>
          <a:xfrm>
            <a:off x="2999232" y="4438415"/>
            <a:ext cx="1865376" cy="292608"/>
          </a:xfrm>
          <a:prstGeom prst="rect">
            <a:avLst/>
          </a:prstGeom>
          <a:noFill/>
          <a:ln/>
        </p:spPr>
        <p:txBody>
          <a:bodyPr wrap="square" lIns="0" tIns="0" rIns="0" bIns="0" rtlCol="0" anchor="ctr"/>
          <a:lstStyle/>
          <a:p>
            <a:pPr indent="0" marL="0">
              <a:buNone/>
            </a:pPr>
            <a:r>
              <a:rPr lang="en-US" sz="1400" b="1" dirty="0">
                <a:solidFill>
                  <a:schemeClr val="tx2"/>
                </a:solidFill>
              </a:rPr>
              <a:t>Escalation</a:t>
            </a:r>
            <a:endParaRPr lang="en-US" sz="1400" dirty="0"/>
          </a:p>
        </p:txBody>
      </p:sp>
      <p:sp>
        <p:nvSpPr>
          <p:cNvPr id="12" name="Text 158"/>
          <p:cNvSpPr txBox="1"/>
          <p:nvPr/>
        </p:nvSpPr>
        <p:spPr>
          <a:xfrm>
            <a:off x="2999232" y="4767599"/>
            <a:ext cx="1865376" cy="786384"/>
          </a:xfrm>
          <a:prstGeom prst="rect">
            <a:avLst/>
          </a:prstGeom>
          <a:noFill/>
          <a:ln/>
        </p:spPr>
        <p:txBody>
          <a:bodyPr wrap="square" lIns="0" tIns="0" rIns="0" bIns="0" rtlCol="0" anchor="t"/>
          <a:lstStyle/>
          <a:p>
            <a:pPr indent="0" marL="0">
              <a:buNone/>
            </a:pPr>
            <a:r>
              <a:rPr lang="en-US" sz="1200" dirty="0">
                <a:solidFill>
                  <a:schemeClr val="tx1"/>
                </a:solidFill>
              </a:rPr>
              <a:t>A High exception with no owner for over 2 working hours goes to the Team Lead.</a:t>
            </a:r>
            <a:endParaRPr lang="en-US" sz="1200" dirty="0"/>
          </a:p>
        </p:txBody>
      </p:sp>
      <p:sp>
        <p:nvSpPr>
          <p:cNvPr id="13" name="Card 159"/>
          <p:cNvSpPr/>
          <p:nvPr/>
        </p:nvSpPr>
        <p:spPr>
          <a:xfrm>
            <a:off x="5157216" y="4346975"/>
            <a:ext cx="2157984" cy="1280160"/>
          </a:xfrm>
          <a:prstGeom prst="roundRect">
            <a:avLst>
              <a:gd name="adj" fmla="val 5714"/>
            </a:avLst>
          </a:prstGeom>
          <a:solidFill>
            <a:schemeClr val="bg2"/>
          </a:solidFill>
          <a:ln w="12700">
            <a:solidFill>
              <a:schemeClr val="bg2"/>
            </a:solidFill>
            <a:prstDash val="solid"/>
          </a:ln>
        </p:spPr>
      </p:sp>
      <p:sp>
        <p:nvSpPr>
          <p:cNvPr id="14" name="Text 160"/>
          <p:cNvSpPr txBox="1"/>
          <p:nvPr/>
        </p:nvSpPr>
        <p:spPr>
          <a:xfrm>
            <a:off x="5303520" y="4438415"/>
            <a:ext cx="1865376" cy="292608"/>
          </a:xfrm>
          <a:prstGeom prst="rect">
            <a:avLst/>
          </a:prstGeom>
          <a:noFill/>
          <a:ln/>
        </p:spPr>
        <p:txBody>
          <a:bodyPr wrap="square" lIns="0" tIns="0" rIns="0" bIns="0" rtlCol="0" anchor="ctr"/>
          <a:lstStyle/>
          <a:p>
            <a:pPr indent="0" marL="0">
              <a:buNone/>
            </a:pPr>
            <a:r>
              <a:rPr lang="en-US" sz="1400" b="1" dirty="0">
                <a:solidFill>
                  <a:schemeClr val="tx2"/>
                </a:solidFill>
              </a:rPr>
              <a:t>No duplicates</a:t>
            </a:r>
            <a:endParaRPr lang="en-US" sz="1400" dirty="0"/>
          </a:p>
        </p:txBody>
      </p:sp>
      <p:sp>
        <p:nvSpPr>
          <p:cNvPr id="15" name="Text 161"/>
          <p:cNvSpPr txBox="1"/>
          <p:nvPr/>
        </p:nvSpPr>
        <p:spPr>
          <a:xfrm>
            <a:off x="5303520" y="4767599"/>
            <a:ext cx="1865376" cy="786384"/>
          </a:xfrm>
          <a:prstGeom prst="rect">
            <a:avLst/>
          </a:prstGeom>
          <a:noFill/>
          <a:ln/>
        </p:spPr>
        <p:txBody>
          <a:bodyPr wrap="square" lIns="0" tIns="0" rIns="0" bIns="0" rtlCol="0" anchor="t"/>
          <a:lstStyle/>
          <a:p>
            <a:pPr indent="0" marL="0">
              <a:buNone/>
            </a:pPr>
            <a:r>
              <a:rPr lang="en-US" sz="1200" dirty="0">
                <a:solidFill>
                  <a:schemeClr val="tx1"/>
                </a:solidFill>
              </a:rPr>
              <a:t>A line shows once per active problem. No second X2 or X3 is added.</a:t>
            </a:r>
            <a:endParaRPr lang="en-US" sz="1200" dirty="0"/>
          </a:p>
        </p:txBody>
      </p:sp>
      <p:sp>
        <p:nvSpPr>
          <p:cNvPr id="16" name="Card 162"/>
          <p:cNvSpPr/>
          <p:nvPr/>
        </p:nvSpPr>
        <p:spPr>
          <a:xfrm>
            <a:off x="548640" y="5736863"/>
            <a:ext cx="6766560" cy="481057"/>
          </a:xfrm>
          <a:prstGeom prst="roundRect">
            <a:avLst>
              <a:gd name="adj" fmla="val 15207"/>
            </a:avLst>
          </a:prstGeom>
          <a:solidFill>
            <a:schemeClr val="accent6"/>
          </a:solidFill>
          <a:ln w="12700">
            <a:solidFill>
              <a:schemeClr val="accent6"/>
            </a:solidFill>
            <a:prstDash val="solid"/>
          </a:ln>
        </p:spPr>
      </p:sp>
      <p:sp>
        <p:nvSpPr>
          <p:cNvPr id="17" name="Text 163"/>
          <p:cNvSpPr txBox="1"/>
          <p:nvPr/>
        </p:nvSpPr>
        <p:spPr>
          <a:xfrm>
            <a:off x="731520" y="5736863"/>
            <a:ext cx="6400800" cy="481057"/>
          </a:xfrm>
          <a:prstGeom prst="rect">
            <a:avLst/>
          </a:prstGeom>
          <a:noFill/>
          <a:ln/>
        </p:spPr>
        <p:txBody>
          <a:bodyPr wrap="square" lIns="0" tIns="0" rIns="0" bIns="0" rtlCol="0" anchor="ctr"/>
          <a:lstStyle/>
          <a:p>
            <a:pPr indent="0" marL="0">
              <a:buNone/>
            </a:pPr>
            <a:r>
              <a:rPr lang="en-US" sz="1300" b="1" dirty="0">
                <a:solidFill>
                  <a:schemeClr val="tx2"/>
                </a:solidFill>
              </a:rPr>
              <a:t>Main decision  </a:t>
            </a:r>
            <a:pPr indent="0" marL="0">
              <a:buNone/>
            </a:pPr>
            <a:r>
              <a:rPr lang="en-US" sz="1300" dirty="0">
                <a:solidFill>
                  <a:schemeClr val="tx1"/>
                </a:solidFill>
              </a:rPr>
              <a:t>Checking every order by hand does not scale in peak season.</a:t>
            </a:r>
            <a:endParaRPr lang="en-US" sz="1300" dirty="0"/>
          </a:p>
        </p:txBody>
      </p:sp>
      <p:sp>
        <p:nvSpPr>
          <p:cNvPr id="18" name="Card 164"/>
          <p:cNvSpPr/>
          <p:nvPr/>
        </p:nvSpPr>
        <p:spPr>
          <a:xfrm>
            <a:off x="7589520" y="1463040"/>
            <a:ext cx="4053535" cy="694944"/>
          </a:xfrm>
          <a:prstGeom prst="roundRect">
            <a:avLst>
              <a:gd name="adj" fmla="val 10526"/>
            </a:avLst>
          </a:prstGeom>
          <a:solidFill>
            <a:schemeClr val="bg2"/>
          </a:solidFill>
          <a:ln w="12700">
            <a:solidFill>
              <a:schemeClr val="bg2"/>
            </a:solidFill>
            <a:prstDash val="solid"/>
          </a:ln>
        </p:spPr>
      </p:sp>
      <p:sp>
        <p:nvSpPr>
          <p:cNvPr id="19" name="Chip 165"/>
          <p:cNvSpPr/>
          <p:nvPr/>
        </p:nvSpPr>
        <p:spPr>
          <a:xfrm>
            <a:off x="7717536" y="1673352"/>
            <a:ext cx="45720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X1</a:t>
            </a:r>
            <a:endParaRPr lang="en-US" sz="1100" dirty="0"/>
          </a:p>
        </p:txBody>
      </p:sp>
      <p:sp>
        <p:nvSpPr>
          <p:cNvPr id="20" name="Text 166"/>
          <p:cNvSpPr txBox="1"/>
          <p:nvPr/>
        </p:nvSpPr>
        <p:spPr>
          <a:xfrm>
            <a:off x="8302752" y="1508760"/>
            <a:ext cx="3230575" cy="274320"/>
          </a:xfrm>
          <a:prstGeom prst="rect">
            <a:avLst/>
          </a:prstGeom>
          <a:noFill/>
          <a:ln/>
        </p:spPr>
        <p:txBody>
          <a:bodyPr wrap="square" lIns="0" tIns="0" rIns="0" bIns="0" rtlCol="0" anchor="ctr"/>
          <a:lstStyle/>
          <a:p>
            <a:pPr indent="0" marL="0">
              <a:buNone/>
            </a:pPr>
            <a:r>
              <a:rPr lang="en-US" sz="1300" b="1" dirty="0">
                <a:solidFill>
                  <a:schemeClr val="tx1"/>
                </a:solidFill>
              </a:rPr>
              <a:t>Cannot send</a:t>
            </a:r>
            <a:pPr indent="0" marL="0">
              <a:buNone/>
            </a:pPr>
            <a:r>
              <a:rPr lang="en-US" sz="1100" b="1" dirty="0">
                <a:solidFill>
                  <a:schemeClr val="accent1"/>
                </a:solidFill>
              </a:rPr>
              <a:t>   Event</a:t>
            </a:r>
            <a:endParaRPr lang="en-US" sz="1300" dirty="0"/>
          </a:p>
        </p:txBody>
      </p:sp>
      <p:sp>
        <p:nvSpPr>
          <p:cNvPr id="21" name="Text 167"/>
          <p:cNvSpPr txBox="1"/>
          <p:nvPr/>
        </p:nvSpPr>
        <p:spPr>
          <a:xfrm>
            <a:off x="8302752" y="1783080"/>
            <a:ext cx="3230575" cy="384048"/>
          </a:xfrm>
          <a:prstGeom prst="rect">
            <a:avLst/>
          </a:prstGeom>
          <a:noFill/>
          <a:ln/>
        </p:spPr>
        <p:txBody>
          <a:bodyPr wrap="square" lIns="0" tIns="0" rIns="0" bIns="0" rtlCol="0" anchor="t"/>
          <a:lstStyle/>
          <a:p>
            <a:pPr indent="0" marL="0">
              <a:buNone/>
            </a:pPr>
            <a:r>
              <a:rPr lang="en-US" sz="1100" dirty="0">
                <a:solidFill>
                  <a:schemeClr val="accent4"/>
                </a:solidFill>
              </a:rPr>
              <a:t>The order check fails, there is no active mapping, or the supplier rejects the line.</a:t>
            </a:r>
            <a:endParaRPr lang="en-US" sz="1100" dirty="0"/>
          </a:p>
        </p:txBody>
      </p:sp>
      <p:sp>
        <p:nvSpPr>
          <p:cNvPr id="22" name="Card 168"/>
          <p:cNvSpPr/>
          <p:nvPr/>
        </p:nvSpPr>
        <p:spPr>
          <a:xfrm>
            <a:off x="7589520" y="2221992"/>
            <a:ext cx="4053535" cy="694944"/>
          </a:xfrm>
          <a:prstGeom prst="roundRect">
            <a:avLst>
              <a:gd name="adj" fmla="val 10526"/>
            </a:avLst>
          </a:prstGeom>
          <a:solidFill>
            <a:schemeClr val="bg2"/>
          </a:solidFill>
          <a:ln w="12700">
            <a:solidFill>
              <a:schemeClr val="bg2"/>
            </a:solidFill>
            <a:prstDash val="solid"/>
          </a:ln>
        </p:spPr>
      </p:sp>
      <p:sp>
        <p:nvSpPr>
          <p:cNvPr id="23" name="Chip 169"/>
          <p:cNvSpPr/>
          <p:nvPr/>
        </p:nvSpPr>
        <p:spPr>
          <a:xfrm>
            <a:off x="7717536" y="2432304"/>
            <a:ext cx="45720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X2</a:t>
            </a:r>
            <a:endParaRPr lang="en-US" sz="1100" dirty="0"/>
          </a:p>
        </p:txBody>
      </p:sp>
      <p:sp>
        <p:nvSpPr>
          <p:cNvPr id="24" name="Text 170"/>
          <p:cNvSpPr txBox="1"/>
          <p:nvPr/>
        </p:nvSpPr>
        <p:spPr>
          <a:xfrm>
            <a:off x="8302752" y="2267712"/>
            <a:ext cx="3230575" cy="274320"/>
          </a:xfrm>
          <a:prstGeom prst="rect">
            <a:avLst/>
          </a:prstGeom>
          <a:noFill/>
          <a:ln/>
        </p:spPr>
        <p:txBody>
          <a:bodyPr wrap="square" lIns="0" tIns="0" rIns="0" bIns="0" rtlCol="0" anchor="ctr"/>
          <a:lstStyle/>
          <a:p>
            <a:pPr indent="0" marL="0">
              <a:buNone/>
            </a:pPr>
            <a:r>
              <a:rPr lang="en-US" sz="1300" b="1" dirty="0">
                <a:solidFill>
                  <a:schemeClr val="tx1"/>
                </a:solidFill>
              </a:rPr>
              <a:t>Stuck in status</a:t>
            </a:r>
            <a:pPr indent="0" marL="0">
              <a:buNone/>
            </a:pPr>
            <a:r>
              <a:rPr lang="en-US" sz="1100" b="1" dirty="0">
                <a:solidFill>
                  <a:schemeClr val="accent3"/>
                </a:solidFill>
              </a:rPr>
              <a:t>   Hourly check</a:t>
            </a:r>
            <a:endParaRPr lang="en-US" sz="1300" dirty="0"/>
          </a:p>
        </p:txBody>
      </p:sp>
      <p:sp>
        <p:nvSpPr>
          <p:cNvPr id="25" name="Text 171"/>
          <p:cNvSpPr txBox="1"/>
          <p:nvPr/>
        </p:nvSpPr>
        <p:spPr>
          <a:xfrm>
            <a:off x="8302752" y="2542032"/>
            <a:ext cx="3230575" cy="384048"/>
          </a:xfrm>
          <a:prstGeom prst="rect">
            <a:avLst/>
          </a:prstGeom>
          <a:noFill/>
          <a:ln/>
        </p:spPr>
        <p:txBody>
          <a:bodyPr wrap="square" lIns="0" tIns="0" rIns="0" bIns="0" rtlCol="0" anchor="t"/>
          <a:lstStyle/>
          <a:p>
            <a:pPr indent="0" marL="0">
              <a:buNone/>
            </a:pPr>
            <a:r>
              <a:rPr lang="en-US" sz="1100" dirty="0">
                <a:solidFill>
                  <a:schemeClr val="accent4"/>
                </a:solidFill>
              </a:rPr>
              <a:t>The line stays in a status longer than expected.</a:t>
            </a:r>
            <a:endParaRPr lang="en-US" sz="1100" dirty="0"/>
          </a:p>
        </p:txBody>
      </p:sp>
      <p:sp>
        <p:nvSpPr>
          <p:cNvPr id="26" name="Card 172"/>
          <p:cNvSpPr/>
          <p:nvPr/>
        </p:nvSpPr>
        <p:spPr>
          <a:xfrm>
            <a:off x="7589520" y="2980944"/>
            <a:ext cx="4053535" cy="694944"/>
          </a:xfrm>
          <a:prstGeom prst="roundRect">
            <a:avLst>
              <a:gd name="adj" fmla="val 10526"/>
            </a:avLst>
          </a:prstGeom>
          <a:solidFill>
            <a:schemeClr val="bg2"/>
          </a:solidFill>
          <a:ln w="12700">
            <a:solidFill>
              <a:schemeClr val="bg2"/>
            </a:solidFill>
            <a:prstDash val="solid"/>
          </a:ln>
        </p:spPr>
      </p:sp>
      <p:sp>
        <p:nvSpPr>
          <p:cNvPr id="27" name="Chip 173"/>
          <p:cNvSpPr/>
          <p:nvPr/>
        </p:nvSpPr>
        <p:spPr>
          <a:xfrm>
            <a:off x="7717536" y="3191256"/>
            <a:ext cx="45720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X3</a:t>
            </a:r>
            <a:endParaRPr lang="en-US" sz="1100" dirty="0"/>
          </a:p>
        </p:txBody>
      </p:sp>
      <p:sp>
        <p:nvSpPr>
          <p:cNvPr id="28" name="Text 174"/>
          <p:cNvSpPr txBox="1"/>
          <p:nvPr/>
        </p:nvSpPr>
        <p:spPr>
          <a:xfrm>
            <a:off x="8302752" y="3026664"/>
            <a:ext cx="3230575" cy="274320"/>
          </a:xfrm>
          <a:prstGeom prst="rect">
            <a:avLst/>
          </a:prstGeom>
          <a:noFill/>
          <a:ln/>
        </p:spPr>
        <p:txBody>
          <a:bodyPr wrap="square" lIns="0" tIns="0" rIns="0" bIns="0" rtlCol="0" anchor="ctr"/>
          <a:lstStyle/>
          <a:p>
            <a:pPr indent="0" marL="0">
              <a:buNone/>
            </a:pPr>
            <a:r>
              <a:rPr lang="en-US" sz="1300" b="1" dirty="0">
                <a:solidFill>
                  <a:schemeClr val="tx1"/>
                </a:solidFill>
              </a:rPr>
              <a:t>Ship-by date at risk</a:t>
            </a:r>
            <a:pPr indent="0" marL="0">
              <a:buNone/>
            </a:pPr>
            <a:r>
              <a:rPr lang="en-US" sz="1100" b="1" dirty="0">
                <a:solidFill>
                  <a:schemeClr val="accent3"/>
                </a:solidFill>
              </a:rPr>
              <a:t>   Hourly check</a:t>
            </a:r>
            <a:endParaRPr lang="en-US" sz="1300" dirty="0"/>
          </a:p>
        </p:txBody>
      </p:sp>
      <p:sp>
        <p:nvSpPr>
          <p:cNvPr id="29" name="Text 175"/>
          <p:cNvSpPr txBox="1"/>
          <p:nvPr/>
        </p:nvSpPr>
        <p:spPr>
          <a:xfrm>
            <a:off x="8302752" y="3300984"/>
            <a:ext cx="3230575" cy="384048"/>
          </a:xfrm>
          <a:prstGeom prst="rect">
            <a:avLst/>
          </a:prstGeom>
          <a:noFill/>
          <a:ln/>
        </p:spPr>
        <p:txBody>
          <a:bodyPr wrap="square" lIns="0" tIns="0" rIns="0" bIns="0" rtlCol="0" anchor="t"/>
          <a:lstStyle/>
          <a:p>
            <a:pPr indent="0" marL="0">
              <a:buNone/>
            </a:pPr>
            <a:r>
              <a:rPr lang="en-US" sz="1100" dirty="0">
                <a:solidFill>
                  <a:schemeClr val="accent4"/>
                </a:solidFill>
              </a:rPr>
              <a:t>The expected ship date is after the ship-by date.</a:t>
            </a:r>
            <a:endParaRPr lang="en-US" sz="1100" dirty="0"/>
          </a:p>
        </p:txBody>
      </p:sp>
      <p:sp>
        <p:nvSpPr>
          <p:cNvPr id="30" name="Card 176"/>
          <p:cNvSpPr/>
          <p:nvPr/>
        </p:nvSpPr>
        <p:spPr>
          <a:xfrm>
            <a:off x="7589520" y="3739896"/>
            <a:ext cx="4053535" cy="694944"/>
          </a:xfrm>
          <a:prstGeom prst="roundRect">
            <a:avLst>
              <a:gd name="adj" fmla="val 10526"/>
            </a:avLst>
          </a:prstGeom>
          <a:solidFill>
            <a:schemeClr val="bg2"/>
          </a:solidFill>
          <a:ln w="12700">
            <a:solidFill>
              <a:schemeClr val="bg2"/>
            </a:solidFill>
            <a:prstDash val="solid"/>
          </a:ln>
        </p:spPr>
      </p:sp>
      <p:sp>
        <p:nvSpPr>
          <p:cNvPr id="31" name="Chip 177"/>
          <p:cNvSpPr/>
          <p:nvPr/>
        </p:nvSpPr>
        <p:spPr>
          <a:xfrm>
            <a:off x="7717536" y="3950208"/>
            <a:ext cx="45720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X4</a:t>
            </a:r>
            <a:endParaRPr lang="en-US" sz="1100" dirty="0"/>
          </a:p>
        </p:txBody>
      </p:sp>
      <p:sp>
        <p:nvSpPr>
          <p:cNvPr id="32" name="Text 178"/>
          <p:cNvSpPr txBox="1"/>
          <p:nvPr/>
        </p:nvSpPr>
        <p:spPr>
          <a:xfrm>
            <a:off x="8302752" y="3785616"/>
            <a:ext cx="3230575" cy="274320"/>
          </a:xfrm>
          <a:prstGeom prst="rect">
            <a:avLst/>
          </a:prstGeom>
          <a:noFill/>
          <a:ln/>
        </p:spPr>
        <p:txBody>
          <a:bodyPr wrap="square" lIns="0" tIns="0" rIns="0" bIns="0" rtlCol="0" anchor="ctr"/>
          <a:lstStyle/>
          <a:p>
            <a:pPr indent="0" marL="0">
              <a:buNone/>
            </a:pPr>
            <a:r>
              <a:rPr lang="en-US" sz="1300" b="1" dirty="0">
                <a:solidFill>
                  <a:schemeClr val="tx1"/>
                </a:solidFill>
              </a:rPr>
              <a:t>Supplier question</a:t>
            </a:r>
            <a:pPr indent="0" marL="0">
              <a:buNone/>
            </a:pPr>
            <a:r>
              <a:rPr lang="en-US" sz="1100" b="1" dirty="0">
                <a:solidFill>
                  <a:schemeClr val="accent1"/>
                </a:solidFill>
              </a:rPr>
              <a:t>   Event</a:t>
            </a:r>
            <a:endParaRPr lang="en-US" sz="1300" dirty="0"/>
          </a:p>
        </p:txBody>
      </p:sp>
      <p:sp>
        <p:nvSpPr>
          <p:cNvPr id="33" name="Text 179"/>
          <p:cNvSpPr txBox="1"/>
          <p:nvPr/>
        </p:nvSpPr>
        <p:spPr>
          <a:xfrm>
            <a:off x="8302752" y="4059936"/>
            <a:ext cx="3230575" cy="384048"/>
          </a:xfrm>
          <a:prstGeom prst="rect">
            <a:avLst/>
          </a:prstGeom>
          <a:noFill/>
          <a:ln/>
        </p:spPr>
        <p:txBody>
          <a:bodyPr wrap="square" lIns="0" tIns="0" rIns="0" bIns="0" rtlCol="0" anchor="t"/>
          <a:lstStyle/>
          <a:p>
            <a:pPr indent="0" marL="0">
              <a:buNone/>
            </a:pPr>
            <a:r>
              <a:rPr lang="en-US" sz="1100" dirty="0">
                <a:solidFill>
                  <a:schemeClr val="accent4"/>
                </a:solidFill>
              </a:rPr>
              <a:t>CS logs a question from a supplier.</a:t>
            </a:r>
            <a:endParaRPr lang="en-US" sz="1100" dirty="0"/>
          </a:p>
        </p:txBody>
      </p:sp>
      <p:sp>
        <p:nvSpPr>
          <p:cNvPr id="34" name="Card 180"/>
          <p:cNvSpPr/>
          <p:nvPr/>
        </p:nvSpPr>
        <p:spPr>
          <a:xfrm>
            <a:off x="7589520" y="4498848"/>
            <a:ext cx="4053535" cy="694944"/>
          </a:xfrm>
          <a:prstGeom prst="roundRect">
            <a:avLst>
              <a:gd name="adj" fmla="val 10526"/>
            </a:avLst>
          </a:prstGeom>
          <a:solidFill>
            <a:schemeClr val="bg2"/>
          </a:solidFill>
          <a:ln w="12700">
            <a:solidFill>
              <a:schemeClr val="bg2"/>
            </a:solidFill>
            <a:prstDash val="solid"/>
          </a:ln>
        </p:spPr>
      </p:sp>
      <p:sp>
        <p:nvSpPr>
          <p:cNvPr id="35" name="Chip 181"/>
          <p:cNvSpPr/>
          <p:nvPr/>
        </p:nvSpPr>
        <p:spPr>
          <a:xfrm>
            <a:off x="7717536" y="4709160"/>
            <a:ext cx="45720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X5</a:t>
            </a:r>
            <a:endParaRPr lang="en-US" sz="1100" dirty="0"/>
          </a:p>
        </p:txBody>
      </p:sp>
      <p:sp>
        <p:nvSpPr>
          <p:cNvPr id="36" name="Text 182"/>
          <p:cNvSpPr txBox="1"/>
          <p:nvPr/>
        </p:nvSpPr>
        <p:spPr>
          <a:xfrm>
            <a:off x="8302752" y="4544568"/>
            <a:ext cx="3230575" cy="274320"/>
          </a:xfrm>
          <a:prstGeom prst="rect">
            <a:avLst/>
          </a:prstGeom>
          <a:noFill/>
          <a:ln/>
        </p:spPr>
        <p:txBody>
          <a:bodyPr wrap="square" lIns="0" tIns="0" rIns="0" bIns="0" rtlCol="0" anchor="ctr"/>
          <a:lstStyle/>
          <a:p>
            <a:pPr indent="0" marL="0">
              <a:buNone/>
            </a:pPr>
            <a:r>
              <a:rPr lang="en-US" sz="1300" b="1" dirty="0">
                <a:solidFill>
                  <a:schemeClr val="tx1"/>
                </a:solidFill>
              </a:rPr>
              <a:t>Customer change or cancel</a:t>
            </a:r>
            <a:pPr indent="0" marL="0">
              <a:buNone/>
            </a:pPr>
            <a:r>
              <a:rPr lang="en-US" sz="1100" b="1" dirty="0">
                <a:solidFill>
                  <a:schemeClr val="accent1"/>
                </a:solidFill>
              </a:rPr>
              <a:t>   Event</a:t>
            </a:r>
            <a:endParaRPr lang="en-US" sz="1300" dirty="0"/>
          </a:p>
        </p:txBody>
      </p:sp>
      <p:sp>
        <p:nvSpPr>
          <p:cNvPr id="37" name="Text 183"/>
          <p:cNvSpPr txBox="1"/>
          <p:nvPr/>
        </p:nvSpPr>
        <p:spPr>
          <a:xfrm>
            <a:off x="8302752" y="4818888"/>
            <a:ext cx="3230575" cy="384048"/>
          </a:xfrm>
          <a:prstGeom prst="rect">
            <a:avLst/>
          </a:prstGeom>
          <a:noFill/>
          <a:ln/>
        </p:spPr>
        <p:txBody>
          <a:bodyPr wrap="square" lIns="0" tIns="0" rIns="0" bIns="0" rtlCol="0" anchor="t"/>
          <a:lstStyle/>
          <a:p>
            <a:pPr indent="0" marL="0">
              <a:buNone/>
            </a:pPr>
            <a:r>
              <a:rPr lang="en-US" sz="1100" dirty="0">
                <a:solidFill>
                  <a:schemeClr val="accent4"/>
                </a:solidFill>
              </a:rPr>
              <a:t>Accepted only before production starts.</a:t>
            </a:r>
            <a:endParaRPr lang="en-US" sz="1100" dirty="0"/>
          </a:p>
        </p:txBody>
      </p:sp>
      <p:sp>
        <p:nvSpPr>
          <p:cNvPr id="38" name="Card 184"/>
          <p:cNvSpPr/>
          <p:nvPr/>
        </p:nvSpPr>
        <p:spPr>
          <a:xfrm>
            <a:off x="7589520" y="5257800"/>
            <a:ext cx="4053535" cy="694944"/>
          </a:xfrm>
          <a:prstGeom prst="roundRect">
            <a:avLst>
              <a:gd name="adj" fmla="val 10526"/>
            </a:avLst>
          </a:prstGeom>
          <a:solidFill>
            <a:schemeClr val="bg2"/>
          </a:solidFill>
          <a:ln w="12700">
            <a:solidFill>
              <a:schemeClr val="bg2"/>
            </a:solidFill>
            <a:prstDash val="solid"/>
          </a:ln>
        </p:spPr>
      </p:sp>
      <p:sp>
        <p:nvSpPr>
          <p:cNvPr id="39" name="Chip 185"/>
          <p:cNvSpPr/>
          <p:nvPr/>
        </p:nvSpPr>
        <p:spPr>
          <a:xfrm>
            <a:off x="7717536" y="5468112"/>
            <a:ext cx="45720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X6</a:t>
            </a:r>
            <a:endParaRPr lang="en-US" sz="1100" dirty="0"/>
          </a:p>
        </p:txBody>
      </p:sp>
      <p:sp>
        <p:nvSpPr>
          <p:cNvPr id="40" name="Text 186"/>
          <p:cNvSpPr txBox="1"/>
          <p:nvPr/>
        </p:nvSpPr>
        <p:spPr>
          <a:xfrm>
            <a:off x="8302752" y="5303520"/>
            <a:ext cx="3230575" cy="274320"/>
          </a:xfrm>
          <a:prstGeom prst="rect">
            <a:avLst/>
          </a:prstGeom>
          <a:noFill/>
          <a:ln/>
        </p:spPr>
        <p:txBody>
          <a:bodyPr wrap="square" lIns="0" tIns="0" rIns="0" bIns="0" rtlCol="0" anchor="ctr"/>
          <a:lstStyle/>
          <a:p>
            <a:pPr indent="0" marL="0">
              <a:buNone/>
            </a:pPr>
            <a:r>
              <a:rPr lang="en-US" sz="1300" b="1" dirty="0">
                <a:solidFill>
                  <a:schemeClr val="tx1"/>
                </a:solidFill>
              </a:rPr>
              <a:t>Tracking not on Etsy</a:t>
            </a:r>
            <a:pPr indent="0" marL="0">
              <a:buNone/>
            </a:pPr>
            <a:r>
              <a:rPr lang="en-US" sz="1100" b="1" dirty="0">
                <a:solidFill>
                  <a:schemeClr val="accent1"/>
                </a:solidFill>
              </a:rPr>
              <a:t>   Event</a:t>
            </a:r>
            <a:endParaRPr lang="en-US" sz="1300" dirty="0"/>
          </a:p>
        </p:txBody>
      </p:sp>
      <p:sp>
        <p:nvSpPr>
          <p:cNvPr id="41" name="Text 187"/>
          <p:cNvSpPr txBox="1"/>
          <p:nvPr/>
        </p:nvSpPr>
        <p:spPr>
          <a:xfrm>
            <a:off x="8302752" y="5577840"/>
            <a:ext cx="3230575" cy="384048"/>
          </a:xfrm>
          <a:prstGeom prst="rect">
            <a:avLst/>
          </a:prstGeom>
          <a:noFill/>
          <a:ln/>
        </p:spPr>
        <p:txBody>
          <a:bodyPr wrap="square" lIns="0" tIns="0" rIns="0" bIns="0" rtlCol="0" anchor="t"/>
          <a:lstStyle/>
          <a:p>
            <a:pPr indent="0" marL="0">
              <a:buNone/>
            </a:pPr>
            <a:r>
              <a:rPr lang="en-US" sz="1100" dirty="0">
                <a:solidFill>
                  <a:schemeClr val="accent4"/>
                </a:solidFill>
              </a:rPr>
              <a:t>The tracking number could not be synced to Etsy.</a:t>
            </a:r>
            <a:endParaRPr lang="en-US" sz="1100" dirty="0"/>
          </a:p>
        </p:txBody>
      </p:sp>
      <p:sp>
        <p:nvSpPr>
          <p:cNvPr id="42" name="Text 188"/>
          <p:cNvSpPr txBox="1"/>
          <p:nvPr/>
        </p:nvSpPr>
        <p:spPr>
          <a:xfrm>
            <a:off x="7589520" y="5998464"/>
            <a:ext cx="4053535" cy="256032"/>
          </a:xfrm>
          <a:prstGeom prst="rect">
            <a:avLst/>
          </a:prstGeom>
          <a:noFill/>
          <a:ln/>
        </p:spPr>
        <p:txBody>
          <a:bodyPr wrap="square" lIns="0" tIns="0" rIns="0" bIns="0" rtlCol="0" anchor="ctr"/>
          <a:lstStyle/>
          <a:p>
            <a:pPr indent="0" marL="0">
              <a:buNone/>
            </a:pPr>
            <a:r>
              <a:rPr lang="en-US" sz="1100" i="1" dirty="0">
                <a:solidFill>
                  <a:schemeClr val="accent4"/>
                </a:solidFill>
              </a:rPr>
              <a:t>X1, X2, X3 and X6 are in the core release (R1); X4 and X5 are in R3.</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Each pain point in scope links to a requirement, user stories and test cases.</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Requirements Traceability and UAT</a:t>
            </a:r>
            <a:endParaRPr lang="en-US" sz="3200" dirty="0"/>
          </a:p>
        </p:txBody>
      </p:sp>
      <p:sp>
        <p:nvSpPr>
          <p:cNvPr id="4" name="Card 189"/>
          <p:cNvSpPr/>
          <p:nvPr/>
        </p:nvSpPr>
        <p:spPr>
          <a:xfrm>
            <a:off x="548640" y="1508760"/>
            <a:ext cx="1911645" cy="960120"/>
          </a:xfrm>
          <a:prstGeom prst="roundRect">
            <a:avLst>
              <a:gd name="adj" fmla="val 7619"/>
            </a:avLst>
          </a:prstGeom>
          <a:solidFill>
            <a:schemeClr val="bg2"/>
          </a:solidFill>
          <a:ln w="12700">
            <a:solidFill>
              <a:schemeClr val="bg2"/>
            </a:solidFill>
            <a:prstDash val="solid"/>
          </a:ln>
        </p:spPr>
      </p:sp>
      <p:sp>
        <p:nvSpPr>
          <p:cNvPr id="5" name="Text 190"/>
          <p:cNvSpPr txBox="1"/>
          <p:nvPr/>
        </p:nvSpPr>
        <p:spPr>
          <a:xfrm>
            <a:off x="694944" y="1618488"/>
            <a:ext cx="777240" cy="740664"/>
          </a:xfrm>
          <a:prstGeom prst="rect">
            <a:avLst/>
          </a:prstGeom>
          <a:noFill/>
          <a:ln/>
        </p:spPr>
        <p:txBody>
          <a:bodyPr wrap="square" lIns="0" tIns="0" rIns="0" bIns="0" rtlCol="0" anchor="ctr"/>
          <a:lstStyle/>
          <a:p>
            <a:pPr indent="0" marL="0">
              <a:buNone/>
            </a:pPr>
            <a:r>
              <a:rPr lang="en-US" sz="3200" b="1" dirty="0">
                <a:solidFill>
                  <a:schemeClr val="tx2"/>
                </a:solidFill>
              </a:rPr>
              <a:t>8</a:t>
            </a:r>
            <a:endParaRPr lang="en-US" sz="3200" dirty="0"/>
          </a:p>
        </p:txBody>
      </p:sp>
      <p:sp>
        <p:nvSpPr>
          <p:cNvPr id="6" name="Text 191"/>
          <p:cNvSpPr txBox="1"/>
          <p:nvPr/>
        </p:nvSpPr>
        <p:spPr>
          <a:xfrm>
            <a:off x="1463040" y="1618488"/>
            <a:ext cx="905805" cy="740664"/>
          </a:xfrm>
          <a:prstGeom prst="rect">
            <a:avLst/>
          </a:prstGeom>
          <a:noFill/>
          <a:ln/>
        </p:spPr>
        <p:txBody>
          <a:bodyPr wrap="square" lIns="0" tIns="0" rIns="0" bIns="0" rtlCol="0" anchor="ctr"/>
          <a:lstStyle/>
          <a:p>
            <a:pPr indent="0" marL="0">
              <a:buNone/>
            </a:pPr>
            <a:r>
              <a:rPr lang="en-US" sz="1200" b="1" dirty="0">
                <a:solidFill>
                  <a:schemeClr val="tx1"/>
                </a:solidFill>
              </a:rPr>
              <a:t>in-scope pain points</a:t>
            </a:r>
            <a:endParaRPr lang="en-US" sz="1200" dirty="0"/>
          </a:p>
          <a:p>
            <a:pPr indent="0" marL="0">
              <a:buNone/>
            </a:pPr>
            <a:r>
              <a:rPr lang="en-US" sz="1100" dirty="0">
                <a:solidFill>
                  <a:schemeClr val="accent4"/>
                </a:solidFill>
              </a:rPr>
              <a:t>BRD</a:t>
            </a:r>
            <a:endParaRPr lang="en-US" sz="1200" dirty="0"/>
          </a:p>
        </p:txBody>
      </p:sp>
      <p:pic>
        <p:nvPicPr>
          <p:cNvPr id="7" name="Arrow 192" descr="preencoded.png">    </p:cNvPr>
          <p:cNvPicPr>
            <a:picLocks noChangeAspect="1"/>
          </p:cNvPicPr>
          <p:nvPr/>
        </p:nvPicPr>
        <p:blipFill>
          <a:blip r:embed="rId1"/>
          <a:stretch>
            <a:fillRect/>
          </a:stretch>
        </p:blipFill>
        <p:spPr>
          <a:xfrm>
            <a:off x="2551725" y="1888236"/>
            <a:ext cx="201168" cy="201168"/>
          </a:xfrm>
          <a:prstGeom prst="rect">
            <a:avLst/>
          </a:prstGeom>
        </p:spPr>
      </p:pic>
      <p:sp>
        <p:nvSpPr>
          <p:cNvPr id="8" name="Card 193"/>
          <p:cNvSpPr/>
          <p:nvPr/>
        </p:nvSpPr>
        <p:spPr>
          <a:xfrm>
            <a:off x="2844333" y="1508760"/>
            <a:ext cx="1911645" cy="960120"/>
          </a:xfrm>
          <a:prstGeom prst="roundRect">
            <a:avLst>
              <a:gd name="adj" fmla="val 7619"/>
            </a:avLst>
          </a:prstGeom>
          <a:solidFill>
            <a:schemeClr val="bg2"/>
          </a:solidFill>
          <a:ln w="12700">
            <a:solidFill>
              <a:schemeClr val="bg2"/>
            </a:solidFill>
            <a:prstDash val="solid"/>
          </a:ln>
        </p:spPr>
      </p:sp>
      <p:sp>
        <p:nvSpPr>
          <p:cNvPr id="9" name="Text 194"/>
          <p:cNvSpPr txBox="1"/>
          <p:nvPr/>
        </p:nvSpPr>
        <p:spPr>
          <a:xfrm>
            <a:off x="2990637" y="1618488"/>
            <a:ext cx="777240" cy="740664"/>
          </a:xfrm>
          <a:prstGeom prst="rect">
            <a:avLst/>
          </a:prstGeom>
          <a:noFill/>
          <a:ln/>
        </p:spPr>
        <p:txBody>
          <a:bodyPr wrap="square" lIns="0" tIns="0" rIns="0" bIns="0" rtlCol="0" anchor="ctr"/>
          <a:lstStyle/>
          <a:p>
            <a:pPr indent="0" marL="0">
              <a:buNone/>
            </a:pPr>
            <a:r>
              <a:rPr lang="en-US" sz="3200" b="1" dirty="0">
                <a:solidFill>
                  <a:schemeClr val="tx2"/>
                </a:solidFill>
              </a:rPr>
              <a:t>7</a:t>
            </a:r>
            <a:endParaRPr lang="en-US" sz="3200" dirty="0"/>
          </a:p>
        </p:txBody>
      </p:sp>
      <p:sp>
        <p:nvSpPr>
          <p:cNvPr id="10" name="Text 195"/>
          <p:cNvSpPr txBox="1"/>
          <p:nvPr/>
        </p:nvSpPr>
        <p:spPr>
          <a:xfrm>
            <a:off x="3758733" y="1618488"/>
            <a:ext cx="905805" cy="740664"/>
          </a:xfrm>
          <a:prstGeom prst="rect">
            <a:avLst/>
          </a:prstGeom>
          <a:noFill/>
          <a:ln/>
        </p:spPr>
        <p:txBody>
          <a:bodyPr wrap="square" lIns="0" tIns="0" rIns="0" bIns="0" rtlCol="0" anchor="ctr"/>
          <a:lstStyle/>
          <a:p>
            <a:pPr indent="0" marL="0">
              <a:buNone/>
            </a:pPr>
            <a:r>
              <a:rPr lang="en-US" sz="1200" b="1" dirty="0">
                <a:solidFill>
                  <a:schemeClr val="tx1"/>
                </a:solidFill>
              </a:rPr>
              <a:t>business requirements</a:t>
            </a:r>
            <a:endParaRPr lang="en-US" sz="1200" dirty="0"/>
          </a:p>
          <a:p>
            <a:pPr indent="0" marL="0">
              <a:buNone/>
            </a:pPr>
            <a:r>
              <a:rPr lang="en-US" sz="1100" dirty="0">
                <a:solidFill>
                  <a:schemeClr val="accent4"/>
                </a:solidFill>
              </a:rPr>
              <a:t>BRD</a:t>
            </a:r>
            <a:endParaRPr lang="en-US" sz="1200" dirty="0"/>
          </a:p>
        </p:txBody>
      </p:sp>
      <p:pic>
        <p:nvPicPr>
          <p:cNvPr id="11" name="Arrow 196" descr="preencoded.png">    </p:cNvPr>
          <p:cNvPicPr>
            <a:picLocks noChangeAspect="1"/>
          </p:cNvPicPr>
          <p:nvPr/>
        </p:nvPicPr>
        <p:blipFill>
          <a:blip r:embed="rId2"/>
          <a:stretch>
            <a:fillRect/>
          </a:stretch>
        </p:blipFill>
        <p:spPr>
          <a:xfrm>
            <a:off x="4847417" y="1888236"/>
            <a:ext cx="201168" cy="201168"/>
          </a:xfrm>
          <a:prstGeom prst="rect">
            <a:avLst/>
          </a:prstGeom>
        </p:spPr>
      </p:pic>
      <p:sp>
        <p:nvSpPr>
          <p:cNvPr id="12" name="Card 197"/>
          <p:cNvSpPr/>
          <p:nvPr/>
        </p:nvSpPr>
        <p:spPr>
          <a:xfrm>
            <a:off x="5140025" y="1508760"/>
            <a:ext cx="1911645" cy="960120"/>
          </a:xfrm>
          <a:prstGeom prst="roundRect">
            <a:avLst>
              <a:gd name="adj" fmla="val 7619"/>
            </a:avLst>
          </a:prstGeom>
          <a:solidFill>
            <a:schemeClr val="bg2"/>
          </a:solidFill>
          <a:ln w="12700">
            <a:solidFill>
              <a:schemeClr val="bg2"/>
            </a:solidFill>
            <a:prstDash val="solid"/>
          </a:ln>
        </p:spPr>
      </p:sp>
      <p:sp>
        <p:nvSpPr>
          <p:cNvPr id="13" name="Text 198"/>
          <p:cNvSpPr txBox="1"/>
          <p:nvPr/>
        </p:nvSpPr>
        <p:spPr>
          <a:xfrm>
            <a:off x="5286329" y="1618488"/>
            <a:ext cx="777240" cy="740664"/>
          </a:xfrm>
          <a:prstGeom prst="rect">
            <a:avLst/>
          </a:prstGeom>
          <a:noFill/>
          <a:ln/>
        </p:spPr>
        <p:txBody>
          <a:bodyPr wrap="square" lIns="0" tIns="0" rIns="0" bIns="0" rtlCol="0" anchor="ctr"/>
          <a:lstStyle/>
          <a:p>
            <a:pPr indent="0" marL="0">
              <a:buNone/>
            </a:pPr>
            <a:r>
              <a:rPr lang="en-US" sz="3200" b="1" dirty="0">
                <a:solidFill>
                  <a:schemeClr val="tx2"/>
                </a:solidFill>
              </a:rPr>
              <a:t>16</a:t>
            </a:r>
            <a:endParaRPr lang="en-US" sz="3200" dirty="0"/>
          </a:p>
        </p:txBody>
      </p:sp>
      <p:sp>
        <p:nvSpPr>
          <p:cNvPr id="14" name="Text 199"/>
          <p:cNvSpPr txBox="1"/>
          <p:nvPr/>
        </p:nvSpPr>
        <p:spPr>
          <a:xfrm>
            <a:off x="6054425" y="1618488"/>
            <a:ext cx="905805" cy="740664"/>
          </a:xfrm>
          <a:prstGeom prst="rect">
            <a:avLst/>
          </a:prstGeom>
          <a:noFill/>
          <a:ln/>
        </p:spPr>
        <p:txBody>
          <a:bodyPr wrap="square" lIns="0" tIns="0" rIns="0" bIns="0" rtlCol="0" anchor="ctr"/>
          <a:lstStyle/>
          <a:p>
            <a:pPr indent="0" marL="0">
              <a:buNone/>
            </a:pPr>
            <a:r>
              <a:rPr lang="en-US" sz="1200" b="1" dirty="0">
                <a:solidFill>
                  <a:schemeClr val="tx1"/>
                </a:solidFill>
              </a:rPr>
              <a:t>functional requirements</a:t>
            </a:r>
            <a:endParaRPr lang="en-US" sz="1200" dirty="0"/>
          </a:p>
          <a:p>
            <a:pPr indent="0" marL="0">
              <a:buNone/>
            </a:pPr>
            <a:r>
              <a:rPr lang="en-US" sz="1100" dirty="0">
                <a:solidFill>
                  <a:schemeClr val="accent4"/>
                </a:solidFill>
              </a:rPr>
              <a:t>FRD</a:t>
            </a:r>
            <a:endParaRPr lang="en-US" sz="1200" dirty="0"/>
          </a:p>
        </p:txBody>
      </p:sp>
      <p:pic>
        <p:nvPicPr>
          <p:cNvPr id="15" name="Arrow 200" descr="preencoded.png">    </p:cNvPr>
          <p:cNvPicPr>
            <a:picLocks noChangeAspect="1"/>
          </p:cNvPicPr>
          <p:nvPr/>
        </p:nvPicPr>
        <p:blipFill>
          <a:blip r:embed="rId3"/>
          <a:stretch>
            <a:fillRect/>
          </a:stretch>
        </p:blipFill>
        <p:spPr>
          <a:xfrm>
            <a:off x="7143110" y="1888236"/>
            <a:ext cx="201168" cy="201168"/>
          </a:xfrm>
          <a:prstGeom prst="rect">
            <a:avLst/>
          </a:prstGeom>
        </p:spPr>
      </p:pic>
      <p:sp>
        <p:nvSpPr>
          <p:cNvPr id="16" name="Card 201"/>
          <p:cNvSpPr/>
          <p:nvPr/>
        </p:nvSpPr>
        <p:spPr>
          <a:xfrm>
            <a:off x="7435718" y="1508760"/>
            <a:ext cx="1911645" cy="960120"/>
          </a:xfrm>
          <a:prstGeom prst="roundRect">
            <a:avLst>
              <a:gd name="adj" fmla="val 7619"/>
            </a:avLst>
          </a:prstGeom>
          <a:solidFill>
            <a:schemeClr val="bg2"/>
          </a:solidFill>
          <a:ln w="12700">
            <a:solidFill>
              <a:schemeClr val="bg2"/>
            </a:solidFill>
            <a:prstDash val="solid"/>
          </a:ln>
        </p:spPr>
      </p:sp>
      <p:sp>
        <p:nvSpPr>
          <p:cNvPr id="17" name="Text 202"/>
          <p:cNvSpPr txBox="1"/>
          <p:nvPr/>
        </p:nvSpPr>
        <p:spPr>
          <a:xfrm>
            <a:off x="7582022" y="1618488"/>
            <a:ext cx="777240" cy="740664"/>
          </a:xfrm>
          <a:prstGeom prst="rect">
            <a:avLst/>
          </a:prstGeom>
          <a:noFill/>
          <a:ln/>
        </p:spPr>
        <p:txBody>
          <a:bodyPr wrap="square" lIns="0" tIns="0" rIns="0" bIns="0" rtlCol="0" anchor="ctr"/>
          <a:lstStyle/>
          <a:p>
            <a:pPr indent="0" marL="0">
              <a:buNone/>
            </a:pPr>
            <a:r>
              <a:rPr lang="en-US" sz="3200" b="1" dirty="0">
                <a:solidFill>
                  <a:schemeClr val="tx2"/>
                </a:solidFill>
              </a:rPr>
              <a:t>16</a:t>
            </a:r>
            <a:endParaRPr lang="en-US" sz="3200" dirty="0"/>
          </a:p>
        </p:txBody>
      </p:sp>
      <p:sp>
        <p:nvSpPr>
          <p:cNvPr id="18" name="Text 203"/>
          <p:cNvSpPr txBox="1"/>
          <p:nvPr/>
        </p:nvSpPr>
        <p:spPr>
          <a:xfrm>
            <a:off x="8350118" y="1618488"/>
            <a:ext cx="905805" cy="740664"/>
          </a:xfrm>
          <a:prstGeom prst="rect">
            <a:avLst/>
          </a:prstGeom>
          <a:noFill/>
          <a:ln/>
        </p:spPr>
        <p:txBody>
          <a:bodyPr wrap="square" lIns="0" tIns="0" rIns="0" bIns="0" rtlCol="0" anchor="ctr"/>
          <a:lstStyle/>
          <a:p>
            <a:pPr indent="0" marL="0">
              <a:buNone/>
            </a:pPr>
            <a:r>
              <a:rPr lang="en-US" sz="1200" b="1" dirty="0">
                <a:solidFill>
                  <a:schemeClr val="tx1"/>
                </a:solidFill>
              </a:rPr>
              <a:t>user stories</a:t>
            </a:r>
            <a:endParaRPr lang="en-US" sz="1200" dirty="0"/>
          </a:p>
          <a:p>
            <a:pPr indent="0" marL="0">
              <a:buNone/>
            </a:pPr>
            <a:r>
              <a:rPr lang="en-US" sz="1100" dirty="0">
                <a:solidFill>
                  <a:schemeClr val="accent4"/>
                </a:solidFill>
              </a:rPr>
              <a:t>User Stories</a:t>
            </a:r>
            <a:endParaRPr lang="en-US" sz="1200" dirty="0"/>
          </a:p>
        </p:txBody>
      </p:sp>
      <p:pic>
        <p:nvPicPr>
          <p:cNvPr id="19" name="Arrow 204" descr="preencoded.png">    </p:cNvPr>
          <p:cNvPicPr>
            <a:picLocks noChangeAspect="1"/>
          </p:cNvPicPr>
          <p:nvPr/>
        </p:nvPicPr>
        <p:blipFill>
          <a:blip r:embed="rId4"/>
          <a:stretch>
            <a:fillRect/>
          </a:stretch>
        </p:blipFill>
        <p:spPr>
          <a:xfrm>
            <a:off x="9438803" y="1888236"/>
            <a:ext cx="201168" cy="201168"/>
          </a:xfrm>
          <a:prstGeom prst="rect">
            <a:avLst/>
          </a:prstGeom>
        </p:spPr>
      </p:pic>
      <p:sp>
        <p:nvSpPr>
          <p:cNvPr id="20" name="Card 205"/>
          <p:cNvSpPr/>
          <p:nvPr/>
        </p:nvSpPr>
        <p:spPr>
          <a:xfrm>
            <a:off x="9731411" y="1508760"/>
            <a:ext cx="1911645" cy="960120"/>
          </a:xfrm>
          <a:prstGeom prst="roundRect">
            <a:avLst>
              <a:gd name="adj" fmla="val 7619"/>
            </a:avLst>
          </a:prstGeom>
          <a:solidFill>
            <a:schemeClr val="accent6"/>
          </a:solidFill>
          <a:ln w="12700">
            <a:solidFill>
              <a:schemeClr val="accent6"/>
            </a:solidFill>
            <a:prstDash val="solid"/>
          </a:ln>
        </p:spPr>
      </p:sp>
      <p:sp>
        <p:nvSpPr>
          <p:cNvPr id="21" name="Text 206"/>
          <p:cNvSpPr txBox="1"/>
          <p:nvPr/>
        </p:nvSpPr>
        <p:spPr>
          <a:xfrm>
            <a:off x="9877715" y="1618488"/>
            <a:ext cx="777240" cy="740664"/>
          </a:xfrm>
          <a:prstGeom prst="rect">
            <a:avLst/>
          </a:prstGeom>
          <a:noFill/>
          <a:ln/>
        </p:spPr>
        <p:txBody>
          <a:bodyPr wrap="square" lIns="0" tIns="0" rIns="0" bIns="0" rtlCol="0" anchor="ctr"/>
          <a:lstStyle/>
          <a:p>
            <a:pPr indent="0" marL="0">
              <a:buNone/>
            </a:pPr>
            <a:r>
              <a:rPr lang="en-US" sz="3200" b="1" dirty="0">
                <a:solidFill>
                  <a:schemeClr val="tx1"/>
                </a:solidFill>
              </a:rPr>
              <a:t>34</a:t>
            </a:r>
            <a:endParaRPr lang="en-US" sz="3200" dirty="0"/>
          </a:p>
        </p:txBody>
      </p:sp>
      <p:sp>
        <p:nvSpPr>
          <p:cNvPr id="22" name="Text 207"/>
          <p:cNvSpPr txBox="1"/>
          <p:nvPr/>
        </p:nvSpPr>
        <p:spPr>
          <a:xfrm>
            <a:off x="10645811" y="1618488"/>
            <a:ext cx="905805" cy="740664"/>
          </a:xfrm>
          <a:prstGeom prst="rect">
            <a:avLst/>
          </a:prstGeom>
          <a:noFill/>
          <a:ln/>
        </p:spPr>
        <p:txBody>
          <a:bodyPr wrap="square" lIns="0" tIns="0" rIns="0" bIns="0" rtlCol="0" anchor="ctr"/>
          <a:lstStyle/>
          <a:p>
            <a:pPr indent="0" marL="0">
              <a:buNone/>
            </a:pPr>
            <a:r>
              <a:rPr lang="en-US" sz="1200" b="1" dirty="0">
                <a:solidFill>
                  <a:schemeClr val="tx1"/>
                </a:solidFill>
              </a:rPr>
              <a:t>UAT test cases</a:t>
            </a:r>
            <a:endParaRPr lang="en-US" sz="1200" dirty="0"/>
          </a:p>
          <a:p>
            <a:pPr indent="0" marL="0">
              <a:buNone/>
            </a:pPr>
            <a:r>
              <a:rPr lang="en-US" sz="1100" dirty="0">
                <a:solidFill>
                  <a:schemeClr val="tx2"/>
                </a:solidFill>
              </a:rPr>
              <a:t>UAT pack</a:t>
            </a:r>
            <a:endParaRPr lang="en-US" sz="1200" dirty="0"/>
          </a:p>
        </p:txBody>
      </p:sp>
      <p:graphicFrame>
        <p:nvGraphicFramePr>
          <p:cNvPr id="10" name="Traceability summary table"/>
          <p:cNvGraphicFramePr>
            <a:graphicFrameLocks noGrp="1"/>
          </p:cNvGraphicFramePr>
          <p:nvPr>
            <p:extLst>
              <p:ext uri="{D42A27DB-BD31-4B8C-83A1-F6EECF244321}">
                <p14:modId xmlns:p14="http://schemas.microsoft.com/office/powerpoint/2010/main" val="1579011935"/>
              </p:ext>
            </p:extLst>
          </p:nvPr>
        </p:nvGraphicFramePr>
        <p:xfrm>
          <a:off x="548640" y="2697480"/>
          <a:ext cx="7772400" cy="914400"/>
        </p:xfrm>
        <a:graphic>
          <a:graphicData uri="http://schemas.openxmlformats.org/drawingml/2006/table">
            <a:tbl>
              <a:tblPr/>
              <a:tblGrid>
                <a:gridCol w="731520"/>
                <a:gridCol w="1234440"/>
                <a:gridCol w="1280160"/>
                <a:gridCol w="1280160"/>
                <a:gridCol w="2423160"/>
                <a:gridCol w="822960"/>
              </a:tblGrid>
              <a:tr h="365760">
                <a:tc>
                  <a:txBody>
                    <a:bodyPr/>
                    <a:lstStyle/>
                    <a:p>
                      <a:pPr indent="0" marL="0">
                        <a:buNone/>
                      </a:pPr>
                      <a:r>
                        <a:rPr lang="en-US" sz="1200" b="1" dirty="0">
                          <a:solidFill>
                            <a:schemeClr val="tx2"/>
                          </a:solidFill>
                        </a:rPr>
                        <a:t>BR</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2"/>
                          </a:solidFill>
                        </a:rPr>
                        <a:t>Pain point</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2"/>
                          </a:solidFill>
                        </a:rPr>
                        <a:t>Functional req.</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2"/>
                          </a:solidFill>
                        </a:rPr>
                        <a:t>User stories</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2"/>
                          </a:solidFill>
                        </a:rPr>
                        <a:t>Test cases</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2"/>
                          </a:solidFill>
                        </a:rPr>
                        <a:t>Release</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accent6"/>
                    </a:solidFill>
                  </a:tcPr>
                </a:tc>
              </a:tr>
              <a:tr h="374904">
                <a:tc>
                  <a:txBody>
                    <a:bodyPr/>
                    <a:lstStyle/>
                    <a:p>
                      <a:pPr indent="0" marL="0">
                        <a:buNone/>
                      </a:pPr>
                      <a:r>
                        <a:rPr lang="en-US" sz="1200" b="1" dirty="0">
                          <a:solidFill>
                            <a:schemeClr val="accent1"/>
                          </a:solidFill>
                        </a:rPr>
                        <a:t>BR-01</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AP-03</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FR-01, 02</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US-01, 02</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TC-01a, 02a</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R1</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r>
              <a:tr h="374904">
                <a:tc>
                  <a:txBody>
                    <a:bodyPr/>
                    <a:lstStyle/>
                    <a:p>
                      <a:pPr indent="0" marL="0">
                        <a:buNone/>
                      </a:pPr>
                      <a:r>
                        <a:rPr lang="en-US" sz="1200" b="1" dirty="0">
                          <a:solidFill>
                            <a:schemeClr val="accent1"/>
                          </a:solidFill>
                        </a:rPr>
                        <a:t>BR-02</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AP-04</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FR-03, 04</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US-03, 04</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TC-03a, 04a–c</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R1</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r>
              <a:tr h="374904">
                <a:tc>
                  <a:txBody>
                    <a:bodyPr/>
                    <a:lstStyle/>
                    <a:p>
                      <a:pPr indent="0" marL="0">
                        <a:buNone/>
                      </a:pPr>
                      <a:r>
                        <a:rPr lang="en-US" sz="1200" b="1" dirty="0">
                          <a:solidFill>
                            <a:schemeClr val="accent1"/>
                          </a:solidFill>
                        </a:rPr>
                        <a:t>BR-03</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AP-05</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FR-05 to 08</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US-05 to 08</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TC-05a–c, 06a–b, 07a–d, 08a</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R1, R3</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r>
              <a:tr h="374904">
                <a:tc>
                  <a:txBody>
                    <a:bodyPr/>
                    <a:lstStyle/>
                    <a:p>
                      <a:pPr indent="0" marL="0">
                        <a:buNone/>
                      </a:pPr>
                      <a:r>
                        <a:rPr lang="en-US" sz="1200" b="1" dirty="0">
                          <a:solidFill>
                            <a:schemeClr val="accent1"/>
                          </a:solidFill>
                        </a:rPr>
                        <a:t>BR-04</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AP-06, AP-08</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FR-09 to 12</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US-09 to 11</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TC-09a–c, 10a–e, 11a–b</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R1, R3</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r>
              <a:tr h="374904">
                <a:tc>
                  <a:txBody>
                    <a:bodyPr/>
                    <a:lstStyle/>
                    <a:p>
                      <a:pPr indent="0" marL="0">
                        <a:buNone/>
                      </a:pPr>
                      <a:r>
                        <a:rPr lang="en-US" sz="1200" b="1" dirty="0">
                          <a:solidFill>
                            <a:schemeClr val="accent1"/>
                          </a:solidFill>
                        </a:rPr>
                        <a:t>BR-05</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AP-07</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FR-13</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US-12</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TC-12a–b</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R1</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r>
              <a:tr h="374904">
                <a:tc>
                  <a:txBody>
                    <a:bodyPr/>
                    <a:lstStyle/>
                    <a:p>
                      <a:pPr indent="0" marL="0">
                        <a:buNone/>
                      </a:pPr>
                      <a:r>
                        <a:rPr lang="en-US" sz="1200" b="1" dirty="0">
                          <a:solidFill>
                            <a:schemeClr val="accent1"/>
                          </a:solidFill>
                        </a:rPr>
                        <a:t>BR-06</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AP-09</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FR-14</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US-13</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TC-13a</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R3</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1"/>
                    </a:solidFill>
                  </a:tcPr>
                </a:tc>
              </a:tr>
              <a:tr h="374904">
                <a:tc>
                  <a:txBody>
                    <a:bodyPr/>
                    <a:lstStyle/>
                    <a:p>
                      <a:pPr indent="0" marL="0">
                        <a:buNone/>
                      </a:pPr>
                      <a:r>
                        <a:rPr lang="en-US" sz="1200" b="1" dirty="0">
                          <a:solidFill>
                            <a:schemeClr val="accent1"/>
                          </a:solidFill>
                        </a:rPr>
                        <a:t>BR-07</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AP-10</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FR-15, 16</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US-14 to 16</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TC-14a–b, 15a–b, 16a</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R4</a:t>
                      </a:r>
                      <a:endParaRPr lang="en-US" sz="1200" dirty="0"/>
                    </a:p>
                  </a:txBody>
                  <a:tcPr marL="91440" marR="91440" marT="27432" marB="27432" anchor="ctr">
                    <a:lnL w="6350" cap="flat" cmpd="sng" algn="ctr">
                      <a:solidFill>
                        <a:srgbClr val="E1E7EF"/>
                      </a:solidFill>
                      <a:prstDash val="solid"/>
                      <a:round/>
                      <a:headEnd type="none" w="med" len="med"/>
                      <a:tailEnd type="none" w="med" len="med"/>
                    </a:lnL>
                    <a:lnR w="6350" cap="flat" cmpd="sng" algn="ctr">
                      <a:solidFill>
                        <a:srgbClr val="E1E7EF"/>
                      </a:solidFill>
                      <a:prstDash val="solid"/>
                      <a:round/>
                      <a:headEnd type="none" w="med" len="med"/>
                      <a:tailEnd type="none" w="med" len="med"/>
                    </a:lnR>
                    <a:lnT w="6350" cap="flat" cmpd="sng" algn="ctr">
                      <a:solidFill>
                        <a:srgbClr val="E1E7EF"/>
                      </a:solidFill>
                      <a:prstDash val="solid"/>
                      <a:round/>
                      <a:headEnd type="none" w="med" len="med"/>
                      <a:tailEnd type="none" w="med" len="med"/>
                    </a:lnT>
                    <a:lnB w="6350" cap="flat" cmpd="sng" algn="ctr">
                      <a:solidFill>
                        <a:srgbClr val="E1E7EF"/>
                      </a:solidFill>
                      <a:prstDash val="solid"/>
                      <a:round/>
                      <a:headEnd type="none" w="med" len="med"/>
                      <a:tailEnd type="none" w="med" len="med"/>
                    </a:lnB>
                    <a:solidFill>
                      <a:schemeClr val="bg2"/>
                    </a:solidFill>
                  </a:tcPr>
                </a:tc>
              </a:tr>
            </a:tbl>
          </a:graphicData>
        </a:graphic>
      </p:graphicFrame>
      <p:sp>
        <p:nvSpPr>
          <p:cNvPr id="24" name="Text 208"/>
          <p:cNvSpPr txBox="1"/>
          <p:nvPr/>
        </p:nvSpPr>
        <p:spPr>
          <a:xfrm>
            <a:off x="548640" y="5760720"/>
            <a:ext cx="7772400" cy="237744"/>
          </a:xfrm>
          <a:prstGeom prst="rect">
            <a:avLst/>
          </a:prstGeom>
          <a:noFill/>
          <a:ln/>
        </p:spPr>
        <p:txBody>
          <a:bodyPr wrap="square" lIns="0" tIns="0" rIns="0" bIns="0" rtlCol="0" anchor="ctr"/>
          <a:lstStyle/>
          <a:p>
            <a:pPr indent="0" marL="0">
              <a:buNone/>
            </a:pPr>
            <a:r>
              <a:rPr lang="en-US" sz="1100" i="1" dirty="0">
                <a:solidFill>
                  <a:schemeClr val="accent4"/>
                </a:solidFill>
              </a:rPr>
              <a:t>Summary of 06 RTM. Each test case is counted once, under the user story it mainly checks.</a:t>
            </a:r>
            <a:endParaRPr lang="en-US" sz="1100" dirty="0"/>
          </a:p>
        </p:txBody>
      </p:sp>
      <p:sp>
        <p:nvSpPr>
          <p:cNvPr id="25" name="Card 209"/>
          <p:cNvSpPr/>
          <p:nvPr/>
        </p:nvSpPr>
        <p:spPr>
          <a:xfrm>
            <a:off x="8595360" y="2697480"/>
            <a:ext cx="3047695" cy="2990088"/>
          </a:xfrm>
          <a:prstGeom prst="roundRect">
            <a:avLst>
              <a:gd name="adj" fmla="val 2446"/>
            </a:avLst>
          </a:prstGeom>
          <a:solidFill>
            <a:schemeClr val="bg2"/>
          </a:solidFill>
          <a:ln w="12700">
            <a:solidFill>
              <a:schemeClr val="bg2"/>
            </a:solidFill>
            <a:prstDash val="solid"/>
          </a:ln>
        </p:spPr>
      </p:sp>
      <p:sp>
        <p:nvSpPr>
          <p:cNvPr id="26" name="Text 210"/>
          <p:cNvSpPr txBox="1"/>
          <p:nvPr/>
        </p:nvSpPr>
        <p:spPr>
          <a:xfrm>
            <a:off x="8778240" y="2788920"/>
            <a:ext cx="2681935" cy="320040"/>
          </a:xfrm>
          <a:prstGeom prst="rect">
            <a:avLst/>
          </a:prstGeom>
          <a:noFill/>
          <a:ln/>
        </p:spPr>
        <p:txBody>
          <a:bodyPr wrap="square" lIns="0" tIns="0" rIns="0" bIns="0" rtlCol="0" anchor="ctr"/>
          <a:lstStyle/>
          <a:p>
            <a:pPr indent="0" marL="0">
              <a:buNone/>
            </a:pPr>
            <a:r>
              <a:rPr lang="en-US" sz="1600" b="1" dirty="0">
                <a:solidFill>
                  <a:schemeClr val="tx2"/>
                </a:solidFill>
              </a:rPr>
              <a:t>UAT pack</a:t>
            </a:r>
            <a:endParaRPr lang="en-US" sz="1600" dirty="0"/>
          </a:p>
        </p:txBody>
      </p:sp>
      <p:sp>
        <p:nvSpPr>
          <p:cNvPr id="27" name="Text 211"/>
          <p:cNvSpPr txBox="1"/>
          <p:nvPr/>
        </p:nvSpPr>
        <p:spPr>
          <a:xfrm>
            <a:off x="8778240" y="3200400"/>
            <a:ext cx="640080" cy="548640"/>
          </a:xfrm>
          <a:prstGeom prst="rect">
            <a:avLst/>
          </a:prstGeom>
          <a:noFill/>
          <a:ln/>
        </p:spPr>
        <p:txBody>
          <a:bodyPr wrap="square" lIns="0" tIns="0" rIns="0" bIns="0" rtlCol="0" anchor="ctr"/>
          <a:lstStyle/>
          <a:p>
            <a:pPr indent="0" marL="0">
              <a:buNone/>
            </a:pPr>
            <a:r>
              <a:rPr lang="en-US" sz="2400" b="1" dirty="0">
                <a:solidFill>
                  <a:schemeClr val="accent1"/>
                </a:solidFill>
              </a:rPr>
              <a:t>33</a:t>
            </a:r>
            <a:endParaRPr lang="en-US" sz="2400" dirty="0"/>
          </a:p>
        </p:txBody>
      </p:sp>
      <p:sp>
        <p:nvSpPr>
          <p:cNvPr id="28" name="Text 212"/>
          <p:cNvSpPr txBox="1"/>
          <p:nvPr/>
        </p:nvSpPr>
        <p:spPr>
          <a:xfrm>
            <a:off x="9464040" y="3200400"/>
            <a:ext cx="1996135" cy="548640"/>
          </a:xfrm>
          <a:prstGeom prst="rect">
            <a:avLst/>
          </a:prstGeom>
          <a:noFill/>
          <a:ln/>
        </p:spPr>
        <p:txBody>
          <a:bodyPr wrap="square" lIns="0" tIns="0" rIns="0" bIns="0" rtlCol="0" anchor="ctr"/>
          <a:lstStyle/>
          <a:p>
            <a:pPr indent="0" marL="0">
              <a:buNone/>
            </a:pPr>
            <a:r>
              <a:rPr lang="en-US" sz="1200" dirty="0">
                <a:solidFill>
                  <a:schemeClr val="tx1"/>
                </a:solidFill>
              </a:rPr>
              <a:t>P1: must pass before the release goes live (1 is P2)</a:t>
            </a:r>
            <a:endParaRPr lang="en-US" sz="1200" dirty="0"/>
          </a:p>
        </p:txBody>
      </p:sp>
      <p:sp>
        <p:nvSpPr>
          <p:cNvPr id="29" name="Text 213"/>
          <p:cNvSpPr txBox="1"/>
          <p:nvPr/>
        </p:nvSpPr>
        <p:spPr>
          <a:xfrm>
            <a:off x="8778240" y="3822192"/>
            <a:ext cx="640080" cy="548640"/>
          </a:xfrm>
          <a:prstGeom prst="rect">
            <a:avLst/>
          </a:prstGeom>
          <a:noFill/>
          <a:ln/>
        </p:spPr>
        <p:txBody>
          <a:bodyPr wrap="square" lIns="0" tIns="0" rIns="0" bIns="0" rtlCol="0" anchor="ctr"/>
          <a:lstStyle/>
          <a:p>
            <a:pPr indent="0" marL="0">
              <a:buNone/>
            </a:pPr>
            <a:r>
              <a:rPr lang="en-US" sz="2400" b="1" dirty="0">
                <a:solidFill>
                  <a:schemeClr val="accent1"/>
                </a:solidFill>
              </a:rPr>
              <a:t>13</a:t>
            </a:r>
            <a:endParaRPr lang="en-US" sz="2400" dirty="0"/>
          </a:p>
        </p:txBody>
      </p:sp>
      <p:sp>
        <p:nvSpPr>
          <p:cNvPr id="30" name="Text 214"/>
          <p:cNvSpPr txBox="1"/>
          <p:nvPr/>
        </p:nvSpPr>
        <p:spPr>
          <a:xfrm>
            <a:off x="9464040" y="3822192"/>
            <a:ext cx="1996135" cy="548640"/>
          </a:xfrm>
          <a:prstGeom prst="rect">
            <a:avLst/>
          </a:prstGeom>
          <a:noFill/>
          <a:ln/>
        </p:spPr>
        <p:txBody>
          <a:bodyPr wrap="square" lIns="0" tIns="0" rIns="0" bIns="0" rtlCol="0" anchor="ctr"/>
          <a:lstStyle/>
          <a:p>
            <a:pPr indent="0" marL="0">
              <a:buNone/>
            </a:pPr>
            <a:r>
              <a:rPr lang="en-US" sz="1200" dirty="0">
                <a:solidFill>
                  <a:schemeClr val="tx1"/>
                </a:solidFill>
              </a:rPr>
              <a:t>negative test cases</a:t>
            </a:r>
            <a:endParaRPr lang="en-US" sz="1200" dirty="0"/>
          </a:p>
        </p:txBody>
      </p:sp>
      <p:sp>
        <p:nvSpPr>
          <p:cNvPr id="31" name="Text 215"/>
          <p:cNvSpPr txBox="1"/>
          <p:nvPr/>
        </p:nvSpPr>
        <p:spPr>
          <a:xfrm>
            <a:off x="8778240" y="4443984"/>
            <a:ext cx="640080" cy="548640"/>
          </a:xfrm>
          <a:prstGeom prst="rect">
            <a:avLst/>
          </a:prstGeom>
          <a:noFill/>
          <a:ln/>
        </p:spPr>
        <p:txBody>
          <a:bodyPr wrap="square" lIns="0" tIns="0" rIns="0" bIns="0" rtlCol="0" anchor="ctr"/>
          <a:lstStyle/>
          <a:p>
            <a:pPr indent="0" marL="0">
              <a:buNone/>
            </a:pPr>
            <a:r>
              <a:rPr lang="en-US" sz="2400" b="1" dirty="0">
                <a:solidFill>
                  <a:schemeClr val="accent1"/>
                </a:solidFill>
              </a:rPr>
              <a:t>5</a:t>
            </a:r>
            <a:endParaRPr lang="en-US" sz="2400" dirty="0"/>
          </a:p>
        </p:txBody>
      </p:sp>
      <p:sp>
        <p:nvSpPr>
          <p:cNvPr id="32" name="Text 216"/>
          <p:cNvSpPr txBox="1"/>
          <p:nvPr/>
        </p:nvSpPr>
        <p:spPr>
          <a:xfrm>
            <a:off x="9464040" y="4443984"/>
            <a:ext cx="1996135" cy="548640"/>
          </a:xfrm>
          <a:prstGeom prst="rect">
            <a:avLst/>
          </a:prstGeom>
          <a:noFill/>
          <a:ln/>
        </p:spPr>
        <p:txBody>
          <a:bodyPr wrap="square" lIns="0" tIns="0" rIns="0" bIns="0" rtlCol="0" anchor="ctr"/>
          <a:lstStyle/>
          <a:p>
            <a:pPr indent="0" marL="0">
              <a:buNone/>
            </a:pPr>
            <a:r>
              <a:rPr lang="en-US" sz="1200" dirty="0">
                <a:solidFill>
                  <a:schemeClr val="tx1"/>
                </a:solidFill>
              </a:rPr>
              <a:t>technical checks run by the Developer</a:t>
            </a:r>
            <a:endParaRPr lang="en-US" sz="1200" dirty="0"/>
          </a:p>
        </p:txBody>
      </p:sp>
      <p:sp>
        <p:nvSpPr>
          <p:cNvPr id="33" name="Chip 217"/>
          <p:cNvSpPr/>
          <p:nvPr/>
        </p:nvSpPr>
        <p:spPr>
          <a:xfrm>
            <a:off x="8778240" y="5184648"/>
            <a:ext cx="2681935" cy="329184"/>
          </a:xfrm>
          <a:prstGeom prst="roundRect">
            <a:avLst>
              <a:gd name="adj" fmla="val 33333"/>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Not run: the solution is not built</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Six releases in order of dependency. Management decides after R0 and after the R2 pilot.</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Release Plan and Pilot</a:t>
            </a:r>
            <a:endParaRPr lang="en-US" sz="3200" dirty="0"/>
          </a:p>
        </p:txBody>
      </p:sp>
      <p:sp>
        <p:nvSpPr>
          <p:cNvPr id="4" name="Card 218"/>
          <p:cNvSpPr/>
          <p:nvPr/>
        </p:nvSpPr>
        <p:spPr>
          <a:xfrm>
            <a:off x="548640" y="1508760"/>
            <a:ext cx="1711909" cy="1600200"/>
          </a:xfrm>
          <a:prstGeom prst="roundRect">
            <a:avLst>
              <a:gd name="adj" fmla="val 4571"/>
            </a:avLst>
          </a:prstGeom>
          <a:solidFill>
            <a:schemeClr val="accent6"/>
          </a:solidFill>
          <a:ln w="12700">
            <a:solidFill>
              <a:schemeClr val="accent6"/>
            </a:solidFill>
            <a:prstDash val="solid"/>
          </a:ln>
        </p:spPr>
      </p:sp>
      <p:sp>
        <p:nvSpPr>
          <p:cNvPr id="5" name="Text 219"/>
          <p:cNvSpPr txBox="1"/>
          <p:nvPr/>
        </p:nvSpPr>
        <p:spPr>
          <a:xfrm>
            <a:off x="694944" y="1600200"/>
            <a:ext cx="1419301" cy="365760"/>
          </a:xfrm>
          <a:prstGeom prst="rect">
            <a:avLst/>
          </a:prstGeom>
          <a:noFill/>
          <a:ln/>
        </p:spPr>
        <p:txBody>
          <a:bodyPr wrap="square" lIns="0" tIns="0" rIns="0" bIns="0" rtlCol="0" anchor="ctr"/>
          <a:lstStyle/>
          <a:p>
            <a:pPr indent="0" marL="0">
              <a:buNone/>
            </a:pPr>
            <a:r>
              <a:rPr lang="en-US" sz="2200" b="1" dirty="0">
                <a:solidFill>
                  <a:schemeClr val="accent2"/>
                </a:solidFill>
              </a:rPr>
              <a:t>R0</a:t>
            </a:r>
            <a:endParaRPr lang="en-US" sz="2200" dirty="0"/>
          </a:p>
        </p:txBody>
      </p:sp>
      <p:sp>
        <p:nvSpPr>
          <p:cNvPr id="6" name="Text 220"/>
          <p:cNvSpPr txBox="1"/>
          <p:nvPr/>
        </p:nvSpPr>
        <p:spPr>
          <a:xfrm>
            <a:off x="694944" y="1965960"/>
            <a:ext cx="1419301" cy="457200"/>
          </a:xfrm>
          <a:prstGeom prst="rect">
            <a:avLst/>
          </a:prstGeom>
          <a:noFill/>
          <a:ln/>
        </p:spPr>
        <p:txBody>
          <a:bodyPr wrap="square" lIns="0" tIns="0" rIns="0" bIns="0" rtlCol="0" anchor="t"/>
          <a:lstStyle/>
          <a:p>
            <a:pPr indent="0" marL="0">
              <a:buNone/>
            </a:pPr>
            <a:r>
              <a:rPr lang="en-US" sz="1300" b="1" dirty="0">
                <a:solidFill>
                  <a:schemeClr val="tx2"/>
                </a:solidFill>
              </a:rPr>
              <a:t>Discovery and baseline</a:t>
            </a:r>
            <a:endParaRPr lang="en-US" sz="1300" dirty="0"/>
          </a:p>
        </p:txBody>
      </p:sp>
      <p:sp>
        <p:nvSpPr>
          <p:cNvPr id="7" name="Text 221"/>
          <p:cNvSpPr txBox="1"/>
          <p:nvPr/>
        </p:nvSpPr>
        <p:spPr>
          <a:xfrm>
            <a:off x="694944" y="2423160"/>
            <a:ext cx="1419301" cy="640080"/>
          </a:xfrm>
          <a:prstGeom prst="rect">
            <a:avLst/>
          </a:prstGeom>
          <a:noFill/>
          <a:ln/>
        </p:spPr>
        <p:txBody>
          <a:bodyPr wrap="square" lIns="0" tIns="0" rIns="0" bIns="0" rtlCol="0" anchor="t"/>
          <a:lstStyle/>
          <a:p>
            <a:pPr indent="0" marL="0">
              <a:buNone/>
            </a:pPr>
            <a:r>
              <a:rPr lang="en-US" sz="1100" dirty="0">
                <a:solidFill>
                  <a:schemeClr val="tx1"/>
                </a:solidFill>
              </a:rPr>
              <a:t>Confirm APIs and mapping; measure the baseline.</a:t>
            </a:r>
            <a:endParaRPr lang="en-US" sz="1100" dirty="0"/>
          </a:p>
        </p:txBody>
      </p:sp>
      <p:sp>
        <p:nvSpPr>
          <p:cNvPr id="8" name="Card 222"/>
          <p:cNvSpPr/>
          <p:nvPr/>
        </p:nvSpPr>
        <p:spPr>
          <a:xfrm>
            <a:off x="2425141" y="1508760"/>
            <a:ext cx="1711909" cy="1600200"/>
          </a:xfrm>
          <a:prstGeom prst="roundRect">
            <a:avLst>
              <a:gd name="adj" fmla="val 4571"/>
            </a:avLst>
          </a:prstGeom>
          <a:solidFill>
            <a:schemeClr val="accent6"/>
          </a:solidFill>
          <a:ln w="12700">
            <a:solidFill>
              <a:schemeClr val="accent6"/>
            </a:solidFill>
            <a:prstDash val="solid"/>
          </a:ln>
        </p:spPr>
      </p:sp>
      <p:sp>
        <p:nvSpPr>
          <p:cNvPr id="9" name="Text 223"/>
          <p:cNvSpPr txBox="1"/>
          <p:nvPr/>
        </p:nvSpPr>
        <p:spPr>
          <a:xfrm>
            <a:off x="2571445" y="1600200"/>
            <a:ext cx="1419301" cy="365760"/>
          </a:xfrm>
          <a:prstGeom prst="rect">
            <a:avLst/>
          </a:prstGeom>
          <a:noFill/>
          <a:ln/>
        </p:spPr>
        <p:txBody>
          <a:bodyPr wrap="square" lIns="0" tIns="0" rIns="0" bIns="0" rtlCol="0" anchor="ctr"/>
          <a:lstStyle/>
          <a:p>
            <a:pPr indent="0" marL="0">
              <a:buNone/>
            </a:pPr>
            <a:r>
              <a:rPr lang="en-US" sz="2200" b="1" dirty="0">
                <a:solidFill>
                  <a:schemeClr val="accent2"/>
                </a:solidFill>
              </a:rPr>
              <a:t>R1</a:t>
            </a:r>
            <a:endParaRPr lang="en-US" sz="2200" dirty="0"/>
          </a:p>
        </p:txBody>
      </p:sp>
      <p:sp>
        <p:nvSpPr>
          <p:cNvPr id="10" name="Text 224"/>
          <p:cNvSpPr txBox="1"/>
          <p:nvPr/>
        </p:nvSpPr>
        <p:spPr>
          <a:xfrm>
            <a:off x="2571445" y="1965960"/>
            <a:ext cx="1419301" cy="457200"/>
          </a:xfrm>
          <a:prstGeom prst="rect">
            <a:avLst/>
          </a:prstGeom>
          <a:noFill/>
          <a:ln/>
        </p:spPr>
        <p:txBody>
          <a:bodyPr wrap="square" lIns="0" tIns="0" rIns="0" bIns="0" rtlCol="0" anchor="t"/>
          <a:lstStyle/>
          <a:p>
            <a:pPr indent="0" marL="0">
              <a:buNone/>
            </a:pPr>
            <a:r>
              <a:rPr lang="en-US" sz="1300" b="1" dirty="0">
                <a:solidFill>
                  <a:schemeClr val="tx2"/>
                </a:solidFill>
              </a:rPr>
              <a:t>Core order fulfillment</a:t>
            </a:r>
            <a:endParaRPr lang="en-US" sz="1300" dirty="0"/>
          </a:p>
        </p:txBody>
      </p:sp>
      <p:sp>
        <p:nvSpPr>
          <p:cNvPr id="11" name="Text 225"/>
          <p:cNvSpPr txBox="1"/>
          <p:nvPr/>
        </p:nvSpPr>
        <p:spPr>
          <a:xfrm>
            <a:off x="2571445" y="2423160"/>
            <a:ext cx="1419301" cy="640080"/>
          </a:xfrm>
          <a:prstGeom prst="rect">
            <a:avLst/>
          </a:prstGeom>
          <a:noFill/>
          <a:ln/>
        </p:spPr>
        <p:txBody>
          <a:bodyPr wrap="square" lIns="0" tIns="0" rIns="0" bIns="0" rtlCol="0" anchor="t"/>
          <a:lstStyle/>
          <a:p>
            <a:pPr indent="0" marL="0">
              <a:buNone/>
            </a:pPr>
            <a:r>
              <a:rPr lang="en-US" sz="1100" dirty="0">
                <a:solidFill>
                  <a:schemeClr val="tx1"/>
                </a:solidFill>
              </a:rPr>
              <a:t>Build and test the core flow and the queue.</a:t>
            </a:r>
            <a:endParaRPr lang="en-US" sz="1100" dirty="0"/>
          </a:p>
        </p:txBody>
      </p:sp>
      <p:sp>
        <p:nvSpPr>
          <p:cNvPr id="12" name="Card 226"/>
          <p:cNvSpPr/>
          <p:nvPr/>
        </p:nvSpPr>
        <p:spPr>
          <a:xfrm>
            <a:off x="4301642" y="1508760"/>
            <a:ext cx="1711909" cy="1600200"/>
          </a:xfrm>
          <a:prstGeom prst="roundRect">
            <a:avLst>
              <a:gd name="adj" fmla="val 4571"/>
            </a:avLst>
          </a:prstGeom>
          <a:solidFill>
            <a:schemeClr val="accent6"/>
          </a:solidFill>
          <a:ln w="12700">
            <a:solidFill>
              <a:schemeClr val="accent6"/>
            </a:solidFill>
            <a:prstDash val="solid"/>
          </a:ln>
        </p:spPr>
      </p:sp>
      <p:sp>
        <p:nvSpPr>
          <p:cNvPr id="13" name="Text 227"/>
          <p:cNvSpPr txBox="1"/>
          <p:nvPr/>
        </p:nvSpPr>
        <p:spPr>
          <a:xfrm>
            <a:off x="4447946" y="1600200"/>
            <a:ext cx="1419301" cy="365760"/>
          </a:xfrm>
          <a:prstGeom prst="rect">
            <a:avLst/>
          </a:prstGeom>
          <a:noFill/>
          <a:ln/>
        </p:spPr>
        <p:txBody>
          <a:bodyPr wrap="square" lIns="0" tIns="0" rIns="0" bIns="0" rtlCol="0" anchor="ctr"/>
          <a:lstStyle/>
          <a:p>
            <a:pPr indent="0" marL="0">
              <a:buNone/>
            </a:pPr>
            <a:r>
              <a:rPr lang="en-US" sz="2200" b="1" dirty="0">
                <a:solidFill>
                  <a:schemeClr val="accent2"/>
                </a:solidFill>
              </a:rPr>
              <a:t>R2</a:t>
            </a:r>
            <a:endParaRPr lang="en-US" sz="2200" dirty="0"/>
          </a:p>
        </p:txBody>
      </p:sp>
      <p:sp>
        <p:nvSpPr>
          <p:cNvPr id="14" name="Text 228"/>
          <p:cNvSpPr txBox="1"/>
          <p:nvPr/>
        </p:nvSpPr>
        <p:spPr>
          <a:xfrm>
            <a:off x="4447946" y="1965960"/>
            <a:ext cx="1419301" cy="457200"/>
          </a:xfrm>
          <a:prstGeom prst="rect">
            <a:avLst/>
          </a:prstGeom>
          <a:noFill/>
          <a:ln/>
        </p:spPr>
        <p:txBody>
          <a:bodyPr wrap="square" lIns="0" tIns="0" rIns="0" bIns="0" rtlCol="0" anchor="t"/>
          <a:lstStyle/>
          <a:p>
            <a:pPr indent="0" marL="0">
              <a:buNone/>
            </a:pPr>
            <a:r>
              <a:rPr lang="en-US" sz="1300" b="1" dirty="0">
                <a:solidFill>
                  <a:schemeClr val="tx2"/>
                </a:solidFill>
              </a:rPr>
              <a:t>Pilot and measure</a:t>
            </a:r>
            <a:endParaRPr lang="en-US" sz="1300" dirty="0"/>
          </a:p>
        </p:txBody>
      </p:sp>
      <p:sp>
        <p:nvSpPr>
          <p:cNvPr id="15" name="Text 229"/>
          <p:cNvSpPr txBox="1"/>
          <p:nvPr/>
        </p:nvSpPr>
        <p:spPr>
          <a:xfrm>
            <a:off x="4447946" y="2423160"/>
            <a:ext cx="1419301" cy="640080"/>
          </a:xfrm>
          <a:prstGeom prst="rect">
            <a:avLst/>
          </a:prstGeom>
          <a:noFill/>
          <a:ln/>
        </p:spPr>
        <p:txBody>
          <a:bodyPr wrap="square" lIns="0" tIns="0" rIns="0" bIns="0" rtlCol="0" anchor="t"/>
          <a:lstStyle/>
          <a:p>
            <a:pPr indent="0" marL="0">
              <a:buNone/>
            </a:pPr>
            <a:r>
              <a:rPr lang="en-US" sz="1100" dirty="0">
                <a:solidFill>
                  <a:schemeClr val="tx1"/>
                </a:solidFill>
              </a:rPr>
              <a:t>Live orders in 1 or 2 shops, compared with R0.</a:t>
            </a:r>
            <a:endParaRPr lang="en-US" sz="1100" dirty="0"/>
          </a:p>
        </p:txBody>
      </p:sp>
      <p:sp>
        <p:nvSpPr>
          <p:cNvPr id="16" name="Card 230"/>
          <p:cNvSpPr/>
          <p:nvPr/>
        </p:nvSpPr>
        <p:spPr>
          <a:xfrm>
            <a:off x="6178144" y="1508760"/>
            <a:ext cx="1711909" cy="1600200"/>
          </a:xfrm>
          <a:prstGeom prst="roundRect">
            <a:avLst>
              <a:gd name="adj" fmla="val 4571"/>
            </a:avLst>
          </a:prstGeom>
          <a:solidFill>
            <a:schemeClr val="bg2"/>
          </a:solidFill>
          <a:ln w="12700">
            <a:solidFill>
              <a:schemeClr val="bg2"/>
            </a:solidFill>
            <a:prstDash val="solid"/>
          </a:ln>
        </p:spPr>
      </p:sp>
      <p:sp>
        <p:nvSpPr>
          <p:cNvPr id="17" name="Text 231"/>
          <p:cNvSpPr txBox="1"/>
          <p:nvPr/>
        </p:nvSpPr>
        <p:spPr>
          <a:xfrm>
            <a:off x="6324448" y="1600200"/>
            <a:ext cx="1419301" cy="365760"/>
          </a:xfrm>
          <a:prstGeom prst="rect">
            <a:avLst/>
          </a:prstGeom>
          <a:noFill/>
          <a:ln/>
        </p:spPr>
        <p:txBody>
          <a:bodyPr wrap="square" lIns="0" tIns="0" rIns="0" bIns="0" rtlCol="0" anchor="ctr"/>
          <a:lstStyle/>
          <a:p>
            <a:pPr indent="0" marL="0">
              <a:buNone/>
            </a:pPr>
            <a:r>
              <a:rPr lang="en-US" sz="2200" b="1" dirty="0">
                <a:solidFill>
                  <a:schemeClr val="accent4"/>
                </a:solidFill>
              </a:rPr>
              <a:t>R3</a:t>
            </a:r>
            <a:endParaRPr lang="en-US" sz="2200" dirty="0"/>
          </a:p>
        </p:txBody>
      </p:sp>
      <p:sp>
        <p:nvSpPr>
          <p:cNvPr id="18" name="Text 232"/>
          <p:cNvSpPr txBox="1"/>
          <p:nvPr/>
        </p:nvSpPr>
        <p:spPr>
          <a:xfrm>
            <a:off x="6324448" y="1965960"/>
            <a:ext cx="1419301" cy="457200"/>
          </a:xfrm>
          <a:prstGeom prst="rect">
            <a:avLst/>
          </a:prstGeom>
          <a:noFill/>
          <a:ln/>
        </p:spPr>
        <p:txBody>
          <a:bodyPr wrap="square" lIns="0" tIns="0" rIns="0" bIns="0" rtlCol="0" anchor="t"/>
          <a:lstStyle/>
          <a:p>
            <a:pPr indent="0" marL="0">
              <a:buNone/>
            </a:pPr>
            <a:r>
              <a:rPr lang="en-US" sz="1300" b="1" dirty="0">
                <a:solidFill>
                  <a:schemeClr val="tx1"/>
                </a:solidFill>
              </a:rPr>
              <a:t>Queue additions and dashboard</a:t>
            </a:r>
            <a:endParaRPr lang="en-US" sz="1300" dirty="0"/>
          </a:p>
        </p:txBody>
      </p:sp>
      <p:sp>
        <p:nvSpPr>
          <p:cNvPr id="19" name="Text 233"/>
          <p:cNvSpPr txBox="1"/>
          <p:nvPr/>
        </p:nvSpPr>
        <p:spPr>
          <a:xfrm>
            <a:off x="6324448" y="2423160"/>
            <a:ext cx="1419301" cy="640080"/>
          </a:xfrm>
          <a:prstGeom prst="rect">
            <a:avLst/>
          </a:prstGeom>
          <a:noFill/>
          <a:ln/>
        </p:spPr>
        <p:txBody>
          <a:bodyPr wrap="square" lIns="0" tIns="0" rIns="0" bIns="0" rtlCol="0" anchor="t"/>
          <a:lstStyle/>
          <a:p>
            <a:pPr indent="0" marL="0">
              <a:buNone/>
            </a:pPr>
            <a:r>
              <a:rPr lang="en-US" sz="1100" dirty="0">
                <a:solidFill>
                  <a:schemeClr val="accent4"/>
                </a:solidFill>
              </a:rPr>
              <a:t>X4, X5 and the dashboard; other shops added.</a:t>
            </a:r>
            <a:endParaRPr lang="en-US" sz="1100" dirty="0"/>
          </a:p>
        </p:txBody>
      </p:sp>
      <p:sp>
        <p:nvSpPr>
          <p:cNvPr id="20" name="Card 234"/>
          <p:cNvSpPr/>
          <p:nvPr/>
        </p:nvSpPr>
        <p:spPr>
          <a:xfrm>
            <a:off x="8054645" y="1508760"/>
            <a:ext cx="1711909" cy="1600200"/>
          </a:xfrm>
          <a:prstGeom prst="roundRect">
            <a:avLst>
              <a:gd name="adj" fmla="val 4571"/>
            </a:avLst>
          </a:prstGeom>
          <a:solidFill>
            <a:schemeClr val="bg2"/>
          </a:solidFill>
          <a:ln w="12700">
            <a:solidFill>
              <a:schemeClr val="bg2"/>
            </a:solidFill>
            <a:prstDash val="solid"/>
          </a:ln>
        </p:spPr>
      </p:sp>
      <p:sp>
        <p:nvSpPr>
          <p:cNvPr id="21" name="Text 235"/>
          <p:cNvSpPr txBox="1"/>
          <p:nvPr/>
        </p:nvSpPr>
        <p:spPr>
          <a:xfrm>
            <a:off x="8200949" y="1600200"/>
            <a:ext cx="1419301" cy="365760"/>
          </a:xfrm>
          <a:prstGeom prst="rect">
            <a:avLst/>
          </a:prstGeom>
          <a:noFill/>
          <a:ln/>
        </p:spPr>
        <p:txBody>
          <a:bodyPr wrap="square" lIns="0" tIns="0" rIns="0" bIns="0" rtlCol="0" anchor="ctr"/>
          <a:lstStyle/>
          <a:p>
            <a:pPr indent="0" marL="0">
              <a:buNone/>
            </a:pPr>
            <a:r>
              <a:rPr lang="en-US" sz="2200" b="1" dirty="0">
                <a:solidFill>
                  <a:schemeClr val="accent4"/>
                </a:solidFill>
              </a:rPr>
              <a:t>R4</a:t>
            </a:r>
            <a:endParaRPr lang="en-US" sz="2200" dirty="0"/>
          </a:p>
        </p:txBody>
      </p:sp>
      <p:sp>
        <p:nvSpPr>
          <p:cNvPr id="22" name="Text 236"/>
          <p:cNvSpPr txBox="1"/>
          <p:nvPr/>
        </p:nvSpPr>
        <p:spPr>
          <a:xfrm>
            <a:off x="8200949" y="1965960"/>
            <a:ext cx="1419301" cy="457200"/>
          </a:xfrm>
          <a:prstGeom prst="rect">
            <a:avLst/>
          </a:prstGeom>
          <a:noFill/>
          <a:ln/>
        </p:spPr>
        <p:txBody>
          <a:bodyPr wrap="square" lIns="0" tIns="0" rIns="0" bIns="0" rtlCol="0" anchor="t"/>
          <a:lstStyle/>
          <a:p>
            <a:pPr indent="0" marL="0">
              <a:buNone/>
            </a:pPr>
            <a:r>
              <a:rPr lang="en-US" sz="1300" b="1" dirty="0">
                <a:solidFill>
                  <a:schemeClr val="tx1"/>
                </a:solidFill>
              </a:rPr>
              <a:t>Issue cases</a:t>
            </a:r>
            <a:endParaRPr lang="en-US" sz="1300" dirty="0"/>
          </a:p>
        </p:txBody>
      </p:sp>
      <p:sp>
        <p:nvSpPr>
          <p:cNvPr id="23" name="Text 237"/>
          <p:cNvSpPr txBox="1"/>
          <p:nvPr/>
        </p:nvSpPr>
        <p:spPr>
          <a:xfrm>
            <a:off x="8200949" y="2423160"/>
            <a:ext cx="1419301" cy="640080"/>
          </a:xfrm>
          <a:prstGeom prst="rect">
            <a:avLst/>
          </a:prstGeom>
          <a:noFill/>
          <a:ln/>
        </p:spPr>
        <p:txBody>
          <a:bodyPr wrap="square" lIns="0" tIns="0" rIns="0" bIns="0" rtlCol="0" anchor="t"/>
          <a:lstStyle/>
          <a:p>
            <a:pPr indent="0" marL="0">
              <a:buNone/>
            </a:pPr>
            <a:r>
              <a:rPr lang="en-US" sz="1100" dirty="0">
                <a:solidFill>
                  <a:schemeClr val="accent4"/>
                </a:solidFill>
              </a:rPr>
              <a:t>Cases, refunds and replacements.</a:t>
            </a:r>
            <a:endParaRPr lang="en-US" sz="1100" dirty="0"/>
          </a:p>
        </p:txBody>
      </p:sp>
      <p:sp>
        <p:nvSpPr>
          <p:cNvPr id="24" name="Card 238"/>
          <p:cNvSpPr/>
          <p:nvPr/>
        </p:nvSpPr>
        <p:spPr>
          <a:xfrm>
            <a:off x="9931146" y="1508760"/>
            <a:ext cx="1711909" cy="1600200"/>
          </a:xfrm>
          <a:prstGeom prst="roundRect">
            <a:avLst>
              <a:gd name="adj" fmla="val 4571"/>
            </a:avLst>
          </a:prstGeom>
          <a:solidFill>
            <a:schemeClr val="bg2"/>
          </a:solidFill>
          <a:ln w="12700">
            <a:solidFill>
              <a:schemeClr val="bg2"/>
            </a:solidFill>
            <a:prstDash val="solid"/>
          </a:ln>
        </p:spPr>
      </p:sp>
      <p:sp>
        <p:nvSpPr>
          <p:cNvPr id="25" name="Text 239"/>
          <p:cNvSpPr txBox="1"/>
          <p:nvPr/>
        </p:nvSpPr>
        <p:spPr>
          <a:xfrm>
            <a:off x="10077450" y="1600200"/>
            <a:ext cx="1419301" cy="365760"/>
          </a:xfrm>
          <a:prstGeom prst="rect">
            <a:avLst/>
          </a:prstGeom>
          <a:noFill/>
          <a:ln/>
        </p:spPr>
        <p:txBody>
          <a:bodyPr wrap="square" lIns="0" tIns="0" rIns="0" bIns="0" rtlCol="0" anchor="ctr"/>
          <a:lstStyle/>
          <a:p>
            <a:pPr indent="0" marL="0">
              <a:buNone/>
            </a:pPr>
            <a:r>
              <a:rPr lang="en-US" sz="2200" b="1" dirty="0">
                <a:solidFill>
                  <a:schemeClr val="accent4"/>
                </a:solidFill>
              </a:rPr>
              <a:t>R5</a:t>
            </a:r>
            <a:endParaRPr lang="en-US" sz="2200" dirty="0"/>
          </a:p>
        </p:txBody>
      </p:sp>
      <p:sp>
        <p:nvSpPr>
          <p:cNvPr id="26" name="Text 240"/>
          <p:cNvSpPr txBox="1"/>
          <p:nvPr/>
        </p:nvSpPr>
        <p:spPr>
          <a:xfrm>
            <a:off x="10077450" y="1965960"/>
            <a:ext cx="1419301" cy="457200"/>
          </a:xfrm>
          <a:prstGeom prst="rect">
            <a:avLst/>
          </a:prstGeom>
          <a:noFill/>
          <a:ln/>
        </p:spPr>
        <p:txBody>
          <a:bodyPr wrap="square" lIns="0" tIns="0" rIns="0" bIns="0" rtlCol="0" anchor="t"/>
          <a:lstStyle/>
          <a:p>
            <a:pPr indent="0" marL="0">
              <a:buNone/>
            </a:pPr>
            <a:r>
              <a:rPr lang="en-US" sz="1300" b="1" dirty="0">
                <a:solidFill>
                  <a:schemeClr val="tx1"/>
                </a:solidFill>
              </a:rPr>
              <a:t>Peak season review</a:t>
            </a:r>
            <a:endParaRPr lang="en-US" sz="1300" dirty="0"/>
          </a:p>
        </p:txBody>
      </p:sp>
      <p:sp>
        <p:nvSpPr>
          <p:cNvPr id="27" name="Text 241"/>
          <p:cNvSpPr txBox="1"/>
          <p:nvPr/>
        </p:nvSpPr>
        <p:spPr>
          <a:xfrm>
            <a:off x="10077450" y="2423160"/>
            <a:ext cx="1419301" cy="640080"/>
          </a:xfrm>
          <a:prstGeom prst="rect">
            <a:avLst/>
          </a:prstGeom>
          <a:noFill/>
          <a:ln/>
        </p:spPr>
        <p:txBody>
          <a:bodyPr wrap="square" lIns="0" tIns="0" rIns="0" bIns="0" rtlCol="0" anchor="t"/>
          <a:lstStyle/>
          <a:p>
            <a:pPr indent="0" marL="0">
              <a:buNone/>
            </a:pPr>
            <a:r>
              <a:rPr lang="en-US" sz="1100" dirty="0">
                <a:solidFill>
                  <a:schemeClr val="accent4"/>
                </a:solidFill>
              </a:rPr>
              <a:t>One full peak season; KPI targets are set.</a:t>
            </a:r>
            <a:endParaRPr lang="en-US" sz="1100" dirty="0"/>
          </a:p>
        </p:txBody>
      </p:sp>
      <p:sp>
        <p:nvSpPr>
          <p:cNvPr id="28" name="Text 242"/>
          <p:cNvSpPr txBox="1"/>
          <p:nvPr/>
        </p:nvSpPr>
        <p:spPr>
          <a:xfrm>
            <a:off x="548640" y="3200400"/>
            <a:ext cx="11094415" cy="274320"/>
          </a:xfrm>
          <a:prstGeom prst="rect">
            <a:avLst/>
          </a:prstGeom>
          <a:noFill/>
          <a:ln/>
        </p:spPr>
        <p:txBody>
          <a:bodyPr wrap="square" lIns="0" tIns="0" rIns="0" bIns="0" rtlCol="0" anchor="ctr"/>
          <a:lstStyle/>
          <a:p>
            <a:pPr indent="0" marL="0">
              <a:buNone/>
            </a:pPr>
            <a:r>
              <a:rPr lang="en-US" sz="1200" i="1" dirty="0">
                <a:solidFill>
                  <a:schemeClr val="accent4"/>
                </a:solidFill>
              </a:rPr>
              <a:t>R0 to R2 = minimum useful scope (Must requirements). Management decides at the R0 and R2 gates: continue, adjust or stop. The order follows dependencies, not dates.</a:t>
            </a:r>
            <a:endParaRPr lang="en-US" sz="1200" dirty="0"/>
          </a:p>
        </p:txBody>
      </p:sp>
      <p:sp>
        <p:nvSpPr>
          <p:cNvPr id="29" name="Card 243"/>
          <p:cNvSpPr/>
          <p:nvPr/>
        </p:nvSpPr>
        <p:spPr>
          <a:xfrm>
            <a:off x="548640" y="3657600"/>
            <a:ext cx="3576218" cy="2560320"/>
          </a:xfrm>
          <a:prstGeom prst="roundRect">
            <a:avLst>
              <a:gd name="adj" fmla="val 2857"/>
            </a:avLst>
          </a:prstGeom>
          <a:solidFill>
            <a:schemeClr val="bg2"/>
          </a:solidFill>
          <a:ln w="12700">
            <a:solidFill>
              <a:schemeClr val="bg2"/>
            </a:solidFill>
            <a:prstDash val="solid"/>
          </a:ln>
        </p:spPr>
      </p:sp>
      <p:sp>
        <p:nvSpPr>
          <p:cNvPr id="30" name="Text 244"/>
          <p:cNvSpPr txBox="1"/>
          <p:nvPr/>
        </p:nvSpPr>
        <p:spPr>
          <a:xfrm>
            <a:off x="749808" y="3767328"/>
            <a:ext cx="3173882" cy="320040"/>
          </a:xfrm>
          <a:prstGeom prst="rect">
            <a:avLst/>
          </a:prstGeom>
          <a:noFill/>
          <a:ln/>
        </p:spPr>
        <p:txBody>
          <a:bodyPr wrap="square" lIns="0" tIns="0" rIns="0" bIns="0" rtlCol="0" anchor="ctr"/>
          <a:lstStyle/>
          <a:p>
            <a:pPr indent="0" marL="0">
              <a:buNone/>
            </a:pPr>
            <a:r>
              <a:rPr lang="en-US" sz="1600" b="1" dirty="0">
                <a:solidFill>
                  <a:schemeClr val="tx2"/>
                </a:solidFill>
              </a:rPr>
              <a:t>Pilot (R2)</a:t>
            </a:r>
            <a:endParaRPr lang="en-US" sz="1600" dirty="0"/>
          </a:p>
        </p:txBody>
      </p:sp>
      <p:sp>
        <p:nvSpPr>
          <p:cNvPr id="31" name="Text 245"/>
          <p:cNvSpPr txBox="1"/>
          <p:nvPr/>
        </p:nvSpPr>
        <p:spPr>
          <a:xfrm>
            <a:off x="749808" y="4160520"/>
            <a:ext cx="3173882" cy="1463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1 or 2 of the 6 shops, in normal weeks</a:t>
            </a:r>
            <a:endParaRPr lang="en-US" sz="1300" dirty="0"/>
          </a:p>
          <a:p>
            <a:pPr marL="342900" indent="-342900">
              <a:spcAft>
                <a:spcPts val="800"/>
              </a:spcAft>
              <a:buSzPct val="100000"/>
              <a:buChar char="•"/>
            </a:pPr>
            <a:r>
              <a:rPr lang="en-US" sz="1300" dirty="0">
                <a:solidFill>
                  <a:schemeClr val="tx1"/>
                </a:solidFill>
              </a:rPr>
              <a:t>Suppliers 1 and 2, with Supplier 3 as backup</a:t>
            </a:r>
            <a:endParaRPr lang="en-US" sz="1300" dirty="0"/>
          </a:p>
          <a:p>
            <a:pPr marL="342900" indent="-342900">
              <a:spcAft>
                <a:spcPts val="800"/>
              </a:spcAft>
              <a:buSzPct val="100000"/>
              <a:buChar char="•"/>
            </a:pPr>
            <a:r>
              <a:rPr lang="en-US" sz="1300" dirty="0">
                <a:solidFill>
                  <a:schemeClr val="tx1"/>
                </a:solidFill>
              </a:rPr>
              <a:t>Core flow and exceptions X1, X2, X3, X6</a:t>
            </a:r>
            <a:endParaRPr lang="en-US" sz="1300" dirty="0"/>
          </a:p>
          <a:p>
            <a:pPr marL="342900" indent="-342900">
              <a:spcAft>
                <a:spcPts val="800"/>
              </a:spcAft>
              <a:buSzPct val="100000"/>
              <a:buChar char="•"/>
            </a:pPr>
            <a:r>
              <a:rPr lang="en-US" sz="1300" dirty="0">
                <a:solidFill>
                  <a:schemeClr val="tx1"/>
                </a:solidFill>
              </a:rPr>
              <a:t>Manual process stays available</a:t>
            </a:r>
            <a:endParaRPr lang="en-US" sz="1300" dirty="0"/>
          </a:p>
        </p:txBody>
      </p:sp>
      <p:sp>
        <p:nvSpPr>
          <p:cNvPr id="32" name="Text 246"/>
          <p:cNvSpPr txBox="1"/>
          <p:nvPr/>
        </p:nvSpPr>
        <p:spPr>
          <a:xfrm>
            <a:off x="749808" y="5623560"/>
            <a:ext cx="3173882" cy="457200"/>
          </a:xfrm>
          <a:prstGeom prst="rect">
            <a:avLst/>
          </a:prstGeom>
          <a:noFill/>
          <a:ln/>
        </p:spPr>
        <p:txBody>
          <a:bodyPr wrap="square" lIns="0" tIns="0" rIns="0" bIns="0" rtlCol="0" anchor="ctr"/>
          <a:lstStyle/>
          <a:p>
            <a:pPr indent="0" marL="0">
              <a:buNone/>
            </a:pPr>
            <a:r>
              <a:rPr lang="en-US" sz="1200" i="1" dirty="0">
                <a:solidFill>
                  <a:schemeClr val="accent4"/>
                </a:solidFill>
              </a:rPr>
              <a:t>If the pilot is stopped, the pilot shops go back to the current process.</a:t>
            </a:r>
            <a:endParaRPr lang="en-US" sz="1200" dirty="0"/>
          </a:p>
        </p:txBody>
      </p:sp>
      <p:sp>
        <p:nvSpPr>
          <p:cNvPr id="33" name="Card 247"/>
          <p:cNvSpPr/>
          <p:nvPr/>
        </p:nvSpPr>
        <p:spPr>
          <a:xfrm>
            <a:off x="4307738" y="3657600"/>
            <a:ext cx="3576218" cy="2560320"/>
          </a:xfrm>
          <a:prstGeom prst="roundRect">
            <a:avLst>
              <a:gd name="adj" fmla="val 2857"/>
            </a:avLst>
          </a:prstGeom>
          <a:solidFill>
            <a:schemeClr val="bg2"/>
          </a:solidFill>
          <a:ln w="12700">
            <a:solidFill>
              <a:schemeClr val="bg2"/>
            </a:solidFill>
            <a:prstDash val="solid"/>
          </a:ln>
        </p:spPr>
      </p:sp>
      <p:sp>
        <p:nvSpPr>
          <p:cNvPr id="34" name="Text 248"/>
          <p:cNvSpPr txBox="1"/>
          <p:nvPr/>
        </p:nvSpPr>
        <p:spPr>
          <a:xfrm>
            <a:off x="4508906" y="3767328"/>
            <a:ext cx="3173882" cy="320040"/>
          </a:xfrm>
          <a:prstGeom prst="rect">
            <a:avLst/>
          </a:prstGeom>
          <a:noFill/>
          <a:ln/>
        </p:spPr>
        <p:txBody>
          <a:bodyPr wrap="square" lIns="0" tIns="0" rIns="0" bIns="0" rtlCol="0" anchor="ctr"/>
          <a:lstStyle/>
          <a:p>
            <a:pPr indent="0" marL="0">
              <a:buNone/>
            </a:pPr>
            <a:r>
              <a:rPr lang="en-US" sz="1600" b="1" dirty="0">
                <a:solidFill>
                  <a:schemeClr val="tx2"/>
                </a:solidFill>
              </a:rPr>
              <a:t>How success is measured</a:t>
            </a:r>
            <a:endParaRPr lang="en-US" sz="1600" dirty="0"/>
          </a:p>
        </p:txBody>
      </p:sp>
      <p:sp>
        <p:nvSpPr>
          <p:cNvPr id="35" name="Text 249"/>
          <p:cNvSpPr txBox="1"/>
          <p:nvPr/>
        </p:nvSpPr>
        <p:spPr>
          <a:xfrm>
            <a:off x="4508906" y="4160520"/>
            <a:ext cx="3173882" cy="1463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Manual time per order (R0 vs R2)</a:t>
            </a:r>
            <a:endParaRPr lang="en-US" sz="1300" dirty="0"/>
          </a:p>
          <a:p>
            <a:pPr marL="342900" indent="-342900">
              <a:spcAft>
                <a:spcPts val="800"/>
              </a:spcAft>
              <a:buSzPct val="100000"/>
              <a:buChar char="•"/>
            </a:pPr>
            <a:r>
              <a:rPr lang="en-US" sz="1300" dirty="0">
                <a:solidFill>
                  <a:schemeClr val="tx1"/>
                </a:solidFill>
              </a:rPr>
              <a:t>Tracking delay to Etsy</a:t>
            </a:r>
            <a:endParaRPr lang="en-US" sz="1300" dirty="0"/>
          </a:p>
          <a:p>
            <a:pPr marL="342900" indent="-342900">
              <a:spcAft>
                <a:spcPts val="800"/>
              </a:spcAft>
              <a:buSzPct val="100000"/>
              <a:buChar char="•"/>
            </a:pPr>
            <a:r>
              <a:rPr lang="en-US" sz="1300" dirty="0">
                <a:solidFill>
                  <a:schemeClr val="tx1"/>
                </a:solidFill>
              </a:rPr>
              <a:t>Needs-action lines per day</a:t>
            </a:r>
            <a:endParaRPr lang="en-US" sz="1300" dirty="0"/>
          </a:p>
          <a:p>
            <a:pPr marL="342900" indent="-342900">
              <a:spcAft>
                <a:spcPts val="800"/>
              </a:spcAft>
              <a:buSzPct val="100000"/>
              <a:buChar char="•"/>
            </a:pPr>
            <a:r>
              <a:rPr lang="en-US" sz="1300" dirty="0">
                <a:solidFill>
                  <a:schemeClr val="tx1"/>
                </a:solidFill>
              </a:rPr>
              <a:t>Late lines flagged early</a:t>
            </a:r>
            <a:endParaRPr lang="en-US" sz="1300" dirty="0"/>
          </a:p>
        </p:txBody>
      </p:sp>
      <p:sp>
        <p:nvSpPr>
          <p:cNvPr id="36" name="Text 250"/>
          <p:cNvSpPr txBox="1"/>
          <p:nvPr/>
        </p:nvSpPr>
        <p:spPr>
          <a:xfrm>
            <a:off x="4508906" y="5623560"/>
            <a:ext cx="3173882" cy="457200"/>
          </a:xfrm>
          <a:prstGeom prst="rect">
            <a:avLst/>
          </a:prstGeom>
          <a:noFill/>
          <a:ln/>
        </p:spPr>
        <p:txBody>
          <a:bodyPr wrap="square" lIns="0" tIns="0" rIns="0" bIns="0" rtlCol="0" anchor="ctr"/>
          <a:lstStyle/>
          <a:p>
            <a:pPr indent="0" marL="0">
              <a:buNone/>
            </a:pPr>
            <a:r>
              <a:rPr lang="en-US" sz="1200" i="1" dirty="0">
                <a:solidFill>
                  <a:schemeClr val="accent4"/>
                </a:solidFill>
              </a:rPr>
              <a:t>No targets before the pilot. Targets are set in R5.</a:t>
            </a:r>
            <a:endParaRPr lang="en-US" sz="1200" dirty="0"/>
          </a:p>
        </p:txBody>
      </p:sp>
      <p:sp>
        <p:nvSpPr>
          <p:cNvPr id="37" name="Card 251"/>
          <p:cNvSpPr/>
          <p:nvPr/>
        </p:nvSpPr>
        <p:spPr>
          <a:xfrm>
            <a:off x="8066837" y="3657600"/>
            <a:ext cx="3576218" cy="2560320"/>
          </a:xfrm>
          <a:prstGeom prst="roundRect">
            <a:avLst>
              <a:gd name="adj" fmla="val 2857"/>
            </a:avLst>
          </a:prstGeom>
          <a:solidFill>
            <a:schemeClr val="bg2"/>
          </a:solidFill>
          <a:ln w="12700">
            <a:solidFill>
              <a:schemeClr val="bg2"/>
            </a:solidFill>
            <a:prstDash val="solid"/>
          </a:ln>
        </p:spPr>
      </p:sp>
      <p:sp>
        <p:nvSpPr>
          <p:cNvPr id="38" name="Text 252"/>
          <p:cNvSpPr txBox="1"/>
          <p:nvPr/>
        </p:nvSpPr>
        <p:spPr>
          <a:xfrm>
            <a:off x="8268005" y="3767328"/>
            <a:ext cx="3173882" cy="320040"/>
          </a:xfrm>
          <a:prstGeom prst="rect">
            <a:avLst/>
          </a:prstGeom>
          <a:noFill/>
          <a:ln/>
        </p:spPr>
        <p:txBody>
          <a:bodyPr wrap="square" lIns="0" tIns="0" rIns="0" bIns="0" rtlCol="0" anchor="ctr"/>
          <a:lstStyle/>
          <a:p>
            <a:pPr indent="0" marL="0">
              <a:buNone/>
            </a:pPr>
            <a:r>
              <a:rPr lang="en-US" sz="1600" b="1" dirty="0">
                <a:solidFill>
                  <a:schemeClr val="tx2"/>
                </a:solidFill>
              </a:rPr>
              <a:t>Management decisions</a:t>
            </a:r>
            <a:endParaRPr lang="en-US" sz="1600" dirty="0"/>
          </a:p>
        </p:txBody>
      </p:sp>
      <p:sp>
        <p:nvSpPr>
          <p:cNvPr id="39" name="Text 253"/>
          <p:cNvSpPr txBox="1"/>
          <p:nvPr/>
        </p:nvSpPr>
        <p:spPr>
          <a:xfrm>
            <a:off x="8268005" y="4160520"/>
            <a:ext cx="3173882" cy="14630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After R0: continue, adjust scope or stop</a:t>
            </a:r>
            <a:endParaRPr lang="en-US" sz="1300" dirty="0"/>
          </a:p>
          <a:p>
            <a:pPr marL="342900" indent="-342900">
              <a:spcAft>
                <a:spcPts val="800"/>
              </a:spcAft>
              <a:buSzPct val="100000"/>
              <a:buChar char="•"/>
            </a:pPr>
            <a:r>
              <a:rPr lang="en-US" sz="1300" dirty="0">
                <a:solidFill>
                  <a:schemeClr val="tx1"/>
                </a:solidFill>
              </a:rPr>
              <a:t>After R2: continue or adjust</a:t>
            </a:r>
            <a:endParaRPr lang="en-US" sz="1300" dirty="0"/>
          </a:p>
          <a:p>
            <a:pPr marL="342900" indent="-342900">
              <a:spcAft>
                <a:spcPts val="800"/>
              </a:spcAft>
              <a:buSzPct val="100000"/>
              <a:buChar char="•"/>
            </a:pPr>
            <a:r>
              <a:rPr lang="en-US" sz="1300" dirty="0">
                <a:solidFill>
                  <a:schemeClr val="tx1"/>
                </a:solidFill>
              </a:rPr>
              <a:t>After R5: keep or change the rules and the supplier setup</a:t>
            </a:r>
            <a:endParaRPr lang="en-US" sz="1300" dirty="0"/>
          </a:p>
        </p:txBody>
      </p:sp>
      <p:sp>
        <p:nvSpPr>
          <p:cNvPr id="40" name="Text 254"/>
          <p:cNvSpPr txBox="1"/>
          <p:nvPr/>
        </p:nvSpPr>
        <p:spPr>
          <a:xfrm>
            <a:off x="8268005" y="5623560"/>
            <a:ext cx="3173882" cy="457200"/>
          </a:xfrm>
          <a:prstGeom prst="rect">
            <a:avLst/>
          </a:prstGeom>
          <a:noFill/>
          <a:ln/>
        </p:spPr>
        <p:txBody>
          <a:bodyPr wrap="square" lIns="0" tIns="0" rIns="0" bIns="0" rtlCol="0" anchor="ctr"/>
          <a:lstStyle/>
          <a:p>
            <a:pPr indent="0" marL="0">
              <a:buNone/>
            </a:pPr>
            <a:r>
              <a:rPr lang="en-US" sz="1200" i="1" dirty="0">
                <a:solidFill>
                  <a:schemeClr val="accent4"/>
                </a:solidFill>
              </a:rPr>
              <a:t>The full Developer capacity starts only after the R0 gate.</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987552"/>
            <a:ext cx="11094415" cy="320040"/>
          </a:xfrm>
          <a:prstGeom prst="rect">
            <a:avLst/>
          </a:prstGeom>
          <a:noFill/>
          <a:ln/>
        </p:spPr>
        <p:txBody>
          <a:bodyPr wrap="square" lIns="0" tIns="0" rIns="0" bIns="0" rtlCol="0" anchor="ctr"/>
          <a:lstStyle/>
          <a:p>
            <a:pPr indent="0" marL="0">
              <a:buNone/>
            </a:pPr>
            <a:r>
              <a:rPr lang="en-US" sz="1400" dirty="0">
                <a:solidFill>
                  <a:schemeClr val="accent4"/>
                </a:solidFill>
              </a:rPr>
              <a:t>What the project needs, what could go wrong, and what this case study does not prove.</a:t>
            </a:r>
            <a:endParaRPr lang="en-US" sz="1400" dirty="0"/>
          </a:p>
        </p:txBody>
      </p:sp>
      <p:sp>
        <p:nvSpPr>
          <p:cNvPr id="3" name="Text 0"/>
          <p:cNvSpPr/>
          <p:nvPr>
            <p:ph idx="101" type="title" hasCustomPrompt="1"/>
          </p:nvPr>
        </p:nvSpPr>
        <p:spPr>
          <a:xfrm>
            <a:off x="548640" y="384048"/>
            <a:ext cx="11094415" cy="594360"/>
          </a:xfrm>
          <a:prstGeom prst="rect">
            <a:avLst/>
          </a:prstGeom>
          <a:noFill/>
          <a:ln/>
        </p:spPr>
        <p:txBody>
          <a:bodyPr wrap="square" lIns="0" tIns="0" rIns="0" bIns="0" rtlCol="0" anchor="ctr"/>
          <a:lstStyle/>
          <a:p>
            <a:pPr algn="l" indent="0" marL="0">
              <a:buNone/>
            </a:pPr>
            <a:r>
              <a:rPr lang="en-US" sz="3200" b="1" dirty="0">
                <a:solidFill>
                  <a:schemeClr val="tx2"/>
                </a:solidFill>
              </a:rPr>
              <a:t>Business Case, Risks and Limitations</a:t>
            </a:r>
            <a:endParaRPr lang="en-US" sz="3200" dirty="0"/>
          </a:p>
        </p:txBody>
      </p:sp>
      <p:sp>
        <p:nvSpPr>
          <p:cNvPr id="4" name="Card 255"/>
          <p:cNvSpPr/>
          <p:nvPr/>
        </p:nvSpPr>
        <p:spPr>
          <a:xfrm>
            <a:off x="548640" y="1508760"/>
            <a:ext cx="5120640" cy="2103120"/>
          </a:xfrm>
          <a:prstGeom prst="roundRect">
            <a:avLst>
              <a:gd name="adj" fmla="val 3478"/>
            </a:avLst>
          </a:prstGeom>
          <a:solidFill>
            <a:schemeClr val="bg2"/>
          </a:solidFill>
          <a:ln w="12700">
            <a:solidFill>
              <a:schemeClr val="bg2"/>
            </a:solidFill>
            <a:prstDash val="solid"/>
          </a:ln>
        </p:spPr>
      </p:sp>
      <p:sp>
        <p:nvSpPr>
          <p:cNvPr id="5" name="Text 256"/>
          <p:cNvSpPr txBox="1"/>
          <p:nvPr/>
        </p:nvSpPr>
        <p:spPr>
          <a:xfrm>
            <a:off x="749808" y="1618488"/>
            <a:ext cx="4718304" cy="320040"/>
          </a:xfrm>
          <a:prstGeom prst="rect">
            <a:avLst/>
          </a:prstGeom>
          <a:noFill/>
          <a:ln/>
        </p:spPr>
        <p:txBody>
          <a:bodyPr wrap="square" lIns="0" tIns="0" rIns="0" bIns="0" rtlCol="0" anchor="ctr"/>
          <a:lstStyle/>
          <a:p>
            <a:pPr indent="0" marL="0">
              <a:buNone/>
            </a:pPr>
            <a:r>
              <a:rPr lang="en-US" sz="1600" b="1" dirty="0">
                <a:solidFill>
                  <a:schemeClr val="tx2"/>
                </a:solidFill>
              </a:rPr>
              <a:t>Added resources</a:t>
            </a:r>
            <a:endParaRPr lang="en-US" sz="1600" dirty="0"/>
          </a:p>
        </p:txBody>
      </p:sp>
      <p:sp>
        <p:nvSpPr>
          <p:cNvPr id="6" name="Text 257"/>
          <p:cNvSpPr txBox="1"/>
          <p:nvPr/>
        </p:nvSpPr>
        <p:spPr>
          <a:xfrm>
            <a:off x="749808" y="2011680"/>
            <a:ext cx="4718304" cy="1051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1 Developer, planned at about 40 hours a week</a:t>
            </a:r>
            <a:endParaRPr lang="en-US" sz="1300" dirty="0"/>
          </a:p>
          <a:p>
            <a:pPr marL="342900" indent="-342900">
              <a:spcAft>
                <a:spcPts val="800"/>
              </a:spcAft>
              <a:buSzPct val="100000"/>
              <a:buChar char="•"/>
            </a:pPr>
            <a:r>
              <a:rPr lang="en-US" sz="1300" dirty="0">
                <a:solidFill>
                  <a:schemeClr val="tx1"/>
                </a:solidFill>
              </a:rPr>
              <a:t>A paid Lark plan for about 10 users (cost to confirm in R0)</a:t>
            </a:r>
            <a:endParaRPr lang="en-US" sz="1300" dirty="0"/>
          </a:p>
          <a:p>
            <a:pPr marL="342900" indent="-342900">
              <a:spcAft>
                <a:spcPts val="800"/>
              </a:spcAft>
              <a:buSzPct val="100000"/>
              <a:buChar char="•"/>
            </a:pPr>
            <a:r>
              <a:rPr lang="en-US" sz="1300" dirty="0">
                <a:solidFill>
                  <a:schemeClr val="tx1"/>
                </a:solidFill>
              </a:rPr>
              <a:t>A small hosting cost for the integration layer</a:t>
            </a:r>
            <a:endParaRPr lang="en-US" sz="1300" dirty="0"/>
          </a:p>
        </p:txBody>
      </p:sp>
      <p:sp>
        <p:nvSpPr>
          <p:cNvPr id="7" name="Text 258"/>
          <p:cNvSpPr txBox="1"/>
          <p:nvPr/>
        </p:nvSpPr>
        <p:spPr>
          <a:xfrm>
            <a:off x="749808" y="3108960"/>
            <a:ext cx="4718304" cy="365760"/>
          </a:xfrm>
          <a:prstGeom prst="rect">
            <a:avLst/>
          </a:prstGeom>
          <a:noFill/>
          <a:ln/>
        </p:spPr>
        <p:txBody>
          <a:bodyPr wrap="square" lIns="0" tIns="0" rIns="0" bIns="0" rtlCol="0" anchor="ctr"/>
          <a:lstStyle/>
          <a:p>
            <a:pPr indent="0" marL="0">
              <a:buNone/>
            </a:pPr>
            <a:r>
              <a:rPr lang="en-US" sz="1200" i="1" dirty="0">
                <a:solidFill>
                  <a:schemeClr val="accent4"/>
                </a:solidFill>
              </a:rPr>
              <a:t>The team stays at 9 people. No headcount reduction is assumed.</a:t>
            </a:r>
            <a:endParaRPr lang="en-US" sz="1200" dirty="0"/>
          </a:p>
        </p:txBody>
      </p:sp>
      <p:sp>
        <p:nvSpPr>
          <p:cNvPr id="8" name="Card 259"/>
          <p:cNvSpPr/>
          <p:nvPr/>
        </p:nvSpPr>
        <p:spPr>
          <a:xfrm>
            <a:off x="5897880" y="1508760"/>
            <a:ext cx="5745175" cy="2103120"/>
          </a:xfrm>
          <a:prstGeom prst="roundRect">
            <a:avLst>
              <a:gd name="adj" fmla="val 3478"/>
            </a:avLst>
          </a:prstGeom>
          <a:solidFill>
            <a:schemeClr val="accent6"/>
          </a:solidFill>
          <a:ln w="12700">
            <a:solidFill>
              <a:schemeClr val="accent6"/>
            </a:solidFill>
            <a:prstDash val="solid"/>
          </a:ln>
        </p:spPr>
      </p:sp>
      <p:sp>
        <p:nvSpPr>
          <p:cNvPr id="9" name="Text 260"/>
          <p:cNvSpPr txBox="1"/>
          <p:nvPr/>
        </p:nvSpPr>
        <p:spPr>
          <a:xfrm>
            <a:off x="6099048" y="1618488"/>
            <a:ext cx="5342839" cy="320040"/>
          </a:xfrm>
          <a:prstGeom prst="rect">
            <a:avLst/>
          </a:prstGeom>
          <a:noFill/>
          <a:ln/>
        </p:spPr>
        <p:txBody>
          <a:bodyPr wrap="square" lIns="0" tIns="0" rIns="0" bIns="0" rtlCol="0" anchor="ctr"/>
          <a:lstStyle/>
          <a:p>
            <a:pPr indent="0" marL="0">
              <a:buNone/>
            </a:pPr>
            <a:r>
              <a:rPr lang="en-US" sz="1600" b="1" dirty="0">
                <a:solidFill>
                  <a:schemeClr val="tx2"/>
                </a:solidFill>
              </a:rPr>
              <a:t>Planning benchmark</a:t>
            </a:r>
            <a:endParaRPr lang="en-US" sz="1600" dirty="0"/>
          </a:p>
        </p:txBody>
      </p:sp>
      <p:sp>
        <p:nvSpPr>
          <p:cNvPr id="10" name="Text 261"/>
          <p:cNvSpPr txBox="1"/>
          <p:nvPr/>
        </p:nvSpPr>
        <p:spPr>
          <a:xfrm>
            <a:off x="6099048" y="1965960"/>
            <a:ext cx="2743200" cy="731520"/>
          </a:xfrm>
          <a:prstGeom prst="rect">
            <a:avLst/>
          </a:prstGeom>
          <a:noFill/>
          <a:ln/>
        </p:spPr>
        <p:txBody>
          <a:bodyPr wrap="square" lIns="0" tIns="0" rIns="0" bIns="0" rtlCol="0" anchor="ctr"/>
          <a:lstStyle/>
          <a:p>
            <a:pPr indent="0" marL="0">
              <a:buNone/>
            </a:pPr>
            <a:r>
              <a:rPr lang="en-US" sz="4000" b="1" dirty="0">
                <a:solidFill>
                  <a:schemeClr val="tx2"/>
                </a:solidFill>
              </a:rPr>
              <a:t>6.0</a:t>
            </a:r>
            <a:pPr indent="0" marL="0">
              <a:buNone/>
            </a:pPr>
            <a:r>
              <a:rPr lang="en-US" sz="1400" dirty="0">
                <a:solidFill>
                  <a:schemeClr val="tx1"/>
                </a:solidFill>
              </a:rPr>
              <a:t>  minutes per order</a:t>
            </a:r>
            <a:endParaRPr lang="en-US" sz="1400" dirty="0"/>
          </a:p>
        </p:txBody>
      </p:sp>
      <p:sp>
        <p:nvSpPr>
          <p:cNvPr id="11" name="Text 262"/>
          <p:cNvSpPr txBox="1"/>
          <p:nvPr/>
        </p:nvSpPr>
        <p:spPr>
          <a:xfrm>
            <a:off x="8915400" y="1965960"/>
            <a:ext cx="2526487" cy="731520"/>
          </a:xfrm>
          <a:prstGeom prst="rect">
            <a:avLst/>
          </a:prstGeom>
          <a:noFill/>
          <a:ln/>
        </p:spPr>
        <p:txBody>
          <a:bodyPr wrap="square" lIns="0" tIns="0" rIns="0" bIns="0" rtlCol="0" anchor="ctr"/>
          <a:lstStyle/>
          <a:p>
            <a:pPr indent="0" marL="0">
              <a:buNone/>
            </a:pPr>
            <a:r>
              <a:rPr lang="en-US" sz="1300" dirty="0">
                <a:solidFill>
                  <a:schemeClr val="tx1"/>
                </a:solidFill>
              </a:rPr>
              <a:t>40 Developer hours × 60 ÷ 400 orders a week</a:t>
            </a:r>
            <a:endParaRPr lang="en-US" sz="1300" dirty="0"/>
          </a:p>
        </p:txBody>
      </p:sp>
      <p:sp>
        <p:nvSpPr>
          <p:cNvPr id="12" name="Text 263"/>
          <p:cNvSpPr txBox="1"/>
          <p:nvPr/>
        </p:nvSpPr>
        <p:spPr>
          <a:xfrm>
            <a:off x="6099048" y="2743200"/>
            <a:ext cx="5342839" cy="731520"/>
          </a:xfrm>
          <a:prstGeom prst="rect">
            <a:avLst/>
          </a:prstGeom>
          <a:noFill/>
          <a:ln/>
        </p:spPr>
        <p:txBody>
          <a:bodyPr wrap="square" lIns="0" tIns="0" rIns="0" bIns="0" rtlCol="0" anchor="ctr"/>
          <a:lstStyle/>
          <a:p>
            <a:pPr indent="0" marL="0">
              <a:buNone/>
            </a:pPr>
            <a:r>
              <a:rPr lang="en-US" sz="1200" dirty="0">
                <a:solidFill>
                  <a:schemeClr val="tx1"/>
                </a:solidFill>
              </a:rPr>
              <a:t>This is the time saving per order that would match the planned Developer hours. It is not an expected result, ROI or a cost saving. The real saving is measured as R0 minus R2.</a:t>
            </a:r>
            <a:endParaRPr lang="en-US" sz="1200" dirty="0"/>
          </a:p>
        </p:txBody>
      </p:sp>
      <p:sp>
        <p:nvSpPr>
          <p:cNvPr id="13" name="Card 264"/>
          <p:cNvSpPr/>
          <p:nvPr/>
        </p:nvSpPr>
        <p:spPr>
          <a:xfrm>
            <a:off x="548640" y="3794760"/>
            <a:ext cx="7406640" cy="2423160"/>
          </a:xfrm>
          <a:prstGeom prst="roundRect">
            <a:avLst>
              <a:gd name="adj" fmla="val 3019"/>
            </a:avLst>
          </a:prstGeom>
          <a:solidFill>
            <a:schemeClr val="bg2"/>
          </a:solidFill>
          <a:ln w="12700">
            <a:solidFill>
              <a:schemeClr val="bg2"/>
            </a:solidFill>
            <a:prstDash val="solid"/>
          </a:ln>
        </p:spPr>
      </p:sp>
      <p:sp>
        <p:nvSpPr>
          <p:cNvPr id="14" name="Text 265"/>
          <p:cNvSpPr txBox="1"/>
          <p:nvPr/>
        </p:nvSpPr>
        <p:spPr>
          <a:xfrm>
            <a:off x="749808" y="3904488"/>
            <a:ext cx="7004304" cy="320040"/>
          </a:xfrm>
          <a:prstGeom prst="rect">
            <a:avLst/>
          </a:prstGeom>
          <a:noFill/>
          <a:ln/>
        </p:spPr>
        <p:txBody>
          <a:bodyPr wrap="square" lIns="0" tIns="0" rIns="0" bIns="0" rtlCol="0" anchor="ctr"/>
          <a:lstStyle/>
          <a:p>
            <a:pPr indent="0" marL="0">
              <a:buNone/>
            </a:pPr>
            <a:r>
              <a:rPr lang="en-US" sz="1600" b="1" dirty="0">
                <a:solidFill>
                  <a:schemeClr val="tx2"/>
                </a:solidFill>
              </a:rPr>
              <a:t>Main risks</a:t>
            </a:r>
            <a:endParaRPr lang="en-US" sz="1600" dirty="0"/>
          </a:p>
        </p:txBody>
      </p:sp>
      <p:sp>
        <p:nvSpPr>
          <p:cNvPr id="15" name="Chip 266"/>
          <p:cNvSpPr/>
          <p:nvPr/>
        </p:nvSpPr>
        <p:spPr>
          <a:xfrm>
            <a:off x="749808" y="4394835"/>
            <a:ext cx="64008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R-01</a:t>
            </a:r>
            <a:endParaRPr lang="en-US" sz="1100" dirty="0"/>
          </a:p>
        </p:txBody>
      </p:sp>
      <p:sp>
        <p:nvSpPr>
          <p:cNvPr id="16" name="Text 267"/>
          <p:cNvSpPr txBox="1"/>
          <p:nvPr/>
        </p:nvSpPr>
        <p:spPr>
          <a:xfrm>
            <a:off x="1536192" y="4297680"/>
            <a:ext cx="6217920" cy="468630"/>
          </a:xfrm>
          <a:prstGeom prst="rect">
            <a:avLst/>
          </a:prstGeom>
          <a:noFill/>
          <a:ln/>
        </p:spPr>
        <p:txBody>
          <a:bodyPr wrap="square" lIns="0" tIns="0" rIns="0" bIns="0" rtlCol="0" anchor="ctr"/>
          <a:lstStyle/>
          <a:p>
            <a:pPr indent="0" marL="0">
              <a:buNone/>
            </a:pPr>
            <a:r>
              <a:rPr lang="en-US" sz="1200" b="1" dirty="0">
                <a:solidFill>
                  <a:schemeClr val="tx1"/>
                </a:solidFill>
              </a:rPr>
              <a:t>A supplier API may be limited or unreliable</a:t>
            </a:r>
            <a:endParaRPr lang="en-US" sz="1200" dirty="0"/>
          </a:p>
          <a:p>
            <a:pPr indent="0" marL="0">
              <a:buNone/>
            </a:pPr>
            <a:r>
              <a:rPr lang="en-US" sz="1200" dirty="0">
                <a:solidFill>
                  <a:schemeClr val="accent4"/>
                </a:solidFill>
              </a:rPr>
              <a:t>Confirm access in R0. Failed calls are logged and the lines stay visible in the queue.</a:t>
            </a:r>
            <a:endParaRPr lang="en-US" sz="1200" dirty="0"/>
          </a:p>
        </p:txBody>
      </p:sp>
      <p:sp>
        <p:nvSpPr>
          <p:cNvPr id="17" name="Chip 268"/>
          <p:cNvSpPr/>
          <p:nvPr/>
        </p:nvSpPr>
        <p:spPr>
          <a:xfrm>
            <a:off x="749808" y="4863465"/>
            <a:ext cx="64008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R-03</a:t>
            </a:r>
            <a:endParaRPr lang="en-US" sz="1100" dirty="0"/>
          </a:p>
        </p:txBody>
      </p:sp>
      <p:sp>
        <p:nvSpPr>
          <p:cNvPr id="18" name="Text 269"/>
          <p:cNvSpPr txBox="1"/>
          <p:nvPr/>
        </p:nvSpPr>
        <p:spPr>
          <a:xfrm>
            <a:off x="1536192" y="4766310"/>
            <a:ext cx="6217920" cy="468630"/>
          </a:xfrm>
          <a:prstGeom prst="rect">
            <a:avLst/>
          </a:prstGeom>
          <a:noFill/>
          <a:ln/>
        </p:spPr>
        <p:txBody>
          <a:bodyPr wrap="square" lIns="0" tIns="0" rIns="0" bIns="0" rtlCol="0" anchor="ctr"/>
          <a:lstStyle/>
          <a:p>
            <a:pPr indent="0" marL="0">
              <a:buNone/>
            </a:pPr>
            <a:r>
              <a:rPr lang="en-US" sz="1200" b="1" dirty="0">
                <a:solidFill>
                  <a:schemeClr val="tx1"/>
                </a:solidFill>
              </a:rPr>
              <a:t>A wrong mapping may send orders to the wrong supplier</a:t>
            </a:r>
            <a:endParaRPr lang="en-US" sz="1200" dirty="0"/>
          </a:p>
          <a:p>
            <a:pPr indent="0" marL="0">
              <a:buNone/>
            </a:pPr>
            <a:r>
              <a:rPr lang="en-US" sz="1200" dirty="0">
                <a:solidFill>
                  <a:schemeClr val="accent4"/>
                </a:solidFill>
              </a:rPr>
              <a:t>PD checks Product Types and the mapping against recent orders before auto-assignment.</a:t>
            </a:r>
            <a:endParaRPr lang="en-US" sz="1200" dirty="0"/>
          </a:p>
        </p:txBody>
      </p:sp>
      <p:sp>
        <p:nvSpPr>
          <p:cNvPr id="19" name="Chip 270"/>
          <p:cNvSpPr/>
          <p:nvPr/>
        </p:nvSpPr>
        <p:spPr>
          <a:xfrm>
            <a:off x="749808" y="5332095"/>
            <a:ext cx="64008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R-04</a:t>
            </a:r>
            <a:endParaRPr lang="en-US" sz="1100" dirty="0"/>
          </a:p>
        </p:txBody>
      </p:sp>
      <p:sp>
        <p:nvSpPr>
          <p:cNvPr id="20" name="Text 271"/>
          <p:cNvSpPr txBox="1"/>
          <p:nvPr/>
        </p:nvSpPr>
        <p:spPr>
          <a:xfrm>
            <a:off x="1536192" y="5234940"/>
            <a:ext cx="6217920" cy="468630"/>
          </a:xfrm>
          <a:prstGeom prst="rect">
            <a:avLst/>
          </a:prstGeom>
          <a:noFill/>
          <a:ln/>
        </p:spPr>
        <p:txBody>
          <a:bodyPr wrap="square" lIns="0" tIns="0" rIns="0" bIns="0" rtlCol="0" anchor="ctr"/>
          <a:lstStyle/>
          <a:p>
            <a:pPr indent="0" marL="0">
              <a:buNone/>
            </a:pPr>
            <a:r>
              <a:rPr lang="en-US" sz="1200" b="1" dirty="0">
                <a:solidFill>
                  <a:schemeClr val="tx1"/>
                </a:solidFill>
              </a:rPr>
              <a:t>There is only one Developer</a:t>
            </a:r>
            <a:endParaRPr lang="en-US" sz="1200" dirty="0"/>
          </a:p>
          <a:p>
            <a:pPr indent="0" marL="0">
              <a:buNone/>
            </a:pPr>
            <a:r>
              <a:rPr lang="en-US" sz="1200" dirty="0">
                <a:solidFill>
                  <a:schemeClr val="accent4"/>
                </a:solidFill>
              </a:rPr>
              <a:t>Document the workflows and setup. The manual process is the contingency.</a:t>
            </a:r>
            <a:endParaRPr lang="en-US" sz="1200" dirty="0"/>
          </a:p>
        </p:txBody>
      </p:sp>
      <p:sp>
        <p:nvSpPr>
          <p:cNvPr id="21" name="Chip 272"/>
          <p:cNvSpPr/>
          <p:nvPr/>
        </p:nvSpPr>
        <p:spPr>
          <a:xfrm>
            <a:off x="749808" y="5800725"/>
            <a:ext cx="640080" cy="274320"/>
          </a:xfrm>
          <a:prstGeom prst="roundRect">
            <a:avLst>
              <a:gd name="adj" fmla="val 4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R-06</a:t>
            </a:r>
            <a:endParaRPr lang="en-US" sz="1100" dirty="0"/>
          </a:p>
        </p:txBody>
      </p:sp>
      <p:sp>
        <p:nvSpPr>
          <p:cNvPr id="22" name="Text 273"/>
          <p:cNvSpPr txBox="1"/>
          <p:nvPr/>
        </p:nvSpPr>
        <p:spPr>
          <a:xfrm>
            <a:off x="1536192" y="5703570"/>
            <a:ext cx="6217920" cy="468630"/>
          </a:xfrm>
          <a:prstGeom prst="rect">
            <a:avLst/>
          </a:prstGeom>
          <a:noFill/>
          <a:ln/>
        </p:spPr>
        <p:txBody>
          <a:bodyPr wrap="square" lIns="0" tIns="0" rIns="0" bIns="0" rtlCol="0" anchor="ctr"/>
          <a:lstStyle/>
          <a:p>
            <a:pPr indent="0" marL="0">
              <a:buNone/>
            </a:pPr>
            <a:r>
              <a:rPr lang="en-US" sz="1200" b="1" dirty="0">
                <a:solidFill>
                  <a:schemeClr val="tx1"/>
                </a:solidFill>
              </a:rPr>
              <a:t>In peak season the queue may grow too large</a:t>
            </a:r>
            <a:endParaRPr lang="en-US" sz="1200" dirty="0"/>
          </a:p>
          <a:p>
            <a:pPr indent="0" marL="0">
              <a:buNone/>
            </a:pPr>
            <a:r>
              <a:rPr lang="en-US" sz="1200" dirty="0">
                <a:solidFill>
                  <a:schemeClr val="accent4"/>
                </a:solidFill>
              </a:rPr>
              <a:t>Measured in the pilot and R5. Management decides if the rules need to change.</a:t>
            </a:r>
            <a:endParaRPr lang="en-US" sz="1200" dirty="0"/>
          </a:p>
        </p:txBody>
      </p:sp>
      <p:sp>
        <p:nvSpPr>
          <p:cNvPr id="23" name="Card 274"/>
          <p:cNvSpPr/>
          <p:nvPr/>
        </p:nvSpPr>
        <p:spPr>
          <a:xfrm>
            <a:off x="8183880" y="3794760"/>
            <a:ext cx="3459175" cy="2423160"/>
          </a:xfrm>
          <a:prstGeom prst="roundRect">
            <a:avLst>
              <a:gd name="adj" fmla="val 3019"/>
            </a:avLst>
          </a:prstGeom>
          <a:solidFill>
            <a:schemeClr val="bg2"/>
          </a:solidFill>
          <a:ln w="12700">
            <a:solidFill>
              <a:schemeClr val="bg2"/>
            </a:solidFill>
            <a:prstDash val="solid"/>
          </a:ln>
        </p:spPr>
      </p:sp>
      <p:sp>
        <p:nvSpPr>
          <p:cNvPr id="24" name="Text 275"/>
          <p:cNvSpPr txBox="1"/>
          <p:nvPr/>
        </p:nvSpPr>
        <p:spPr>
          <a:xfrm>
            <a:off x="8385048" y="3904488"/>
            <a:ext cx="3056839" cy="320040"/>
          </a:xfrm>
          <a:prstGeom prst="rect">
            <a:avLst/>
          </a:prstGeom>
          <a:noFill/>
          <a:ln/>
        </p:spPr>
        <p:txBody>
          <a:bodyPr wrap="square" lIns="0" tIns="0" rIns="0" bIns="0" rtlCol="0" anchor="ctr"/>
          <a:lstStyle/>
          <a:p>
            <a:pPr indent="0" marL="0">
              <a:buNone/>
            </a:pPr>
            <a:r>
              <a:rPr lang="en-US" sz="1600" b="1" dirty="0">
                <a:solidFill>
                  <a:schemeClr val="tx2"/>
                </a:solidFill>
              </a:rPr>
              <a:t>Limitations</a:t>
            </a:r>
            <a:endParaRPr lang="en-US" sz="1600" dirty="0"/>
          </a:p>
        </p:txBody>
      </p:sp>
      <p:sp>
        <p:nvSpPr>
          <p:cNvPr id="25" name="Text 276"/>
          <p:cNvSpPr txBox="1"/>
          <p:nvPr/>
        </p:nvSpPr>
        <p:spPr>
          <a:xfrm>
            <a:off x="8385048" y="4297680"/>
            <a:ext cx="3056839" cy="13716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Solution not built; UAT not run</a:t>
            </a:r>
            <a:endParaRPr lang="en-US" sz="1300" dirty="0"/>
          </a:p>
          <a:p>
            <a:pPr marL="342900" indent="-342900">
              <a:spcAft>
                <a:spcPts val="800"/>
              </a:spcAft>
              <a:buSzPct val="100000"/>
              <a:buChar char="•"/>
            </a:pPr>
            <a:r>
              <a:rPr lang="en-US" sz="1300" dirty="0">
                <a:solidFill>
                  <a:schemeClr val="tx1"/>
                </a:solidFill>
              </a:rPr>
              <a:t>Order data is simulated</a:t>
            </a:r>
            <a:endParaRPr lang="en-US" sz="1300" dirty="0"/>
          </a:p>
          <a:p>
            <a:pPr marL="342900" indent="-342900">
              <a:spcAft>
                <a:spcPts val="800"/>
              </a:spcAft>
              <a:buSzPct val="100000"/>
              <a:buChar char="•"/>
            </a:pPr>
            <a:r>
              <a:rPr lang="en-US" sz="1300" dirty="0">
                <a:solidFill>
                  <a:schemeClr val="tx1"/>
                </a:solidFill>
              </a:rPr>
              <a:t>Supplier API access: to confirm in R0</a:t>
            </a:r>
            <a:endParaRPr lang="en-US" sz="1300" dirty="0"/>
          </a:p>
          <a:p>
            <a:pPr marL="342900" indent="-342900">
              <a:spcAft>
                <a:spcPts val="800"/>
              </a:spcAft>
              <a:buSzPct val="100000"/>
              <a:buChar char="•"/>
            </a:pPr>
            <a:r>
              <a:rPr lang="en-US" sz="1300" dirty="0">
                <a:solidFill>
                  <a:schemeClr val="tx1"/>
                </a:solidFill>
              </a:rPr>
              <a:t>Manual effort per order is a working hypothesis</a:t>
            </a:r>
            <a:endParaRPr lang="en-US" sz="1300" dirty="0"/>
          </a:p>
        </p:txBody>
      </p:sp>
      <p:sp>
        <p:nvSpPr>
          <p:cNvPr id="26" name="Text 277"/>
          <p:cNvSpPr txBox="1"/>
          <p:nvPr/>
        </p:nvSpPr>
        <p:spPr>
          <a:xfrm>
            <a:off x="8385048" y="5715000"/>
            <a:ext cx="3056839" cy="365760"/>
          </a:xfrm>
          <a:prstGeom prst="rect">
            <a:avLst/>
          </a:prstGeom>
          <a:noFill/>
          <a:ln/>
        </p:spPr>
        <p:txBody>
          <a:bodyPr wrap="square" lIns="0" tIns="0" rIns="0" bIns="0" rtlCol="0" anchor="ctr"/>
          <a:lstStyle/>
          <a:p>
            <a:pPr indent="0" marL="0">
              <a:buNone/>
            </a:pPr>
            <a:r>
              <a:rPr lang="en-US" sz="1200" i="1" dirty="0">
                <a:solidFill>
                  <a:schemeClr val="accent4"/>
                </a:solidFill>
              </a:rPr>
              <a:t>No results or targets are claimed.</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AugBridge Case Study">
  <a:themeElements>
    <a:clrScheme name="AugBridge Case Study">
      <a:dk1>
        <a:srgbClr val="2F3A4A"/>
      </a:dk1>
      <a:lt1>
        <a:srgbClr val="FFFFFF"/>
      </a:lt1>
      <a:dk2>
        <a:srgbClr val="3A5F8F"/>
      </a:dk2>
      <a:lt2>
        <a:srgbClr val="F4F7FB"/>
      </a:lt2>
      <a:accent1>
        <a:srgbClr val="7FA8D9"/>
      </a:accent1>
      <a:accent2>
        <a:srgbClr val="E0956B"/>
      </a:accent2>
      <a:accent3>
        <a:srgbClr val="7DB8A4"/>
      </a:accent3>
      <a:accent4>
        <a:srgbClr val="6E7B8C"/>
      </a:accent4>
      <a:accent5>
        <a:srgbClr val="C46A5E"/>
      </a:accent5>
      <a:accent6>
        <a:srgbClr val="DCE8F6"/>
      </a:accent6>
      <a:hlink>
        <a:srgbClr val="7FA8D9"/>
      </a:hlink>
      <a:folHlink>
        <a:srgbClr val="6E7B8C"/>
      </a:folHlink>
    </a:clrScheme>
    <a:fontScheme name="AugBridge Case Stud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AugBridge Commerce - Project Summary</dc:title>
  <dc:subject>Order Fulfillment Automation &amp; Exception Monitoring - BA case study</dc:subject>
  <dc:creator>PptxGenJS</dc:creator>
  <cp:lastModifiedBy>PptxGenJS</cp:lastModifiedBy>
  <cp:revision>1</cp:revision>
  <dcterms:created xsi:type="dcterms:W3CDTF">2026-10-07T11:26:00Z</dcterms:created>
  <dcterms:modified xsi:type="dcterms:W3CDTF">2026-10-07T11:26:00Z</dcterms:modified>
</cp:coreProperties>
</file>